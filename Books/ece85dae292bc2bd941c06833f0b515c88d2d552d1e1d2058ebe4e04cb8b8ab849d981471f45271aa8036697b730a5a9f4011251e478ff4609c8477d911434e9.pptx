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c45c1719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6c45c17193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c08fe55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7c08fe5522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c45c1719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6c45c17193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c08fe5522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7c08fe5522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6c76cb840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g6c76cb8400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c76cb8400_1_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6c76cb8400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6c76cb8400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6c76cb8400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6c76cb8400_0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c76cb8400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6c76cb8400_0_2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>
  <p:cSld name="Capa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8650" y="1609039"/>
            <a:ext cx="48165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/>
          <p:nvPr>
            <p:ph idx="2" type="pic"/>
          </p:nvPr>
        </p:nvSpPr>
        <p:spPr>
          <a:xfrm>
            <a:off x="5000625" y="1"/>
            <a:ext cx="4143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bertura">
  <p:cSld name="Abertura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>
            <p:ph idx="2" type="pic"/>
          </p:nvPr>
        </p:nvSpPr>
        <p:spPr>
          <a:xfrm>
            <a:off x="0" y="0"/>
            <a:ext cx="91440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4181294"/>
            <a:ext cx="9152400" cy="1413000"/>
          </a:xfrm>
          <a:prstGeom prst="rect">
            <a:avLst/>
          </a:prstGeom>
          <a:solidFill>
            <a:srgbClr val="005388"/>
          </a:solidFill>
          <a:ln cap="flat" cmpd="sng" w="9525">
            <a:solidFill>
              <a:srgbClr val="0053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-1" y="5943489"/>
            <a:ext cx="915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itação">
  <p:cSld name="Citaçã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7286" y="700193"/>
            <a:ext cx="7669427" cy="547408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2172601" y="1896569"/>
            <a:ext cx="5010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  <a:defRPr b="1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2172601" y="5181600"/>
            <a:ext cx="389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>
                <a:solidFill>
                  <a:srgbClr val="D8D8D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bjetivos">
  <p:cSld name="Objetivo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992777" y="2209800"/>
            <a:ext cx="78969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992777" y="498269"/>
            <a:ext cx="789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800"/>
              <a:buNone/>
              <a:defRPr b="1" sz="28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6"/>
          <p:cNvSpPr/>
          <p:nvPr/>
        </p:nvSpPr>
        <p:spPr>
          <a:xfrm>
            <a:off x="0" y="6656173"/>
            <a:ext cx="9144000" cy="1113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476" y="6589859"/>
            <a:ext cx="9144000" cy="4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386567" y="900198"/>
            <a:ext cx="1321936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84912" t="0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992777" y="1042839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400"/>
              <a:buNone/>
              <a:defRPr b="0" sz="24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echamento">
  <p:cSld name="Fechamento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9109" y="3189933"/>
            <a:ext cx="2735813" cy="458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7"/>
          <p:cNvGrpSpPr/>
          <p:nvPr/>
        </p:nvGrpSpPr>
        <p:grpSpPr>
          <a:xfrm>
            <a:off x="205210" y="568735"/>
            <a:ext cx="393834" cy="5386075"/>
            <a:chOff x="205210" y="568735"/>
            <a:chExt cx="393834" cy="5386075"/>
          </a:xfrm>
        </p:grpSpPr>
        <p:pic>
          <p:nvPicPr>
            <p:cNvPr id="79" name="Google Shape;79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17"/>
          <p:cNvGrpSpPr/>
          <p:nvPr/>
        </p:nvGrpSpPr>
        <p:grpSpPr>
          <a:xfrm>
            <a:off x="8554987" y="726374"/>
            <a:ext cx="393834" cy="5386075"/>
            <a:chOff x="205210" y="568735"/>
            <a:chExt cx="393834" cy="5386075"/>
          </a:xfrm>
        </p:grpSpPr>
        <p:pic>
          <p:nvPicPr>
            <p:cNvPr id="82" name="Google Shape;82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+ texto + imagem2">
  <p:cSld name="Título + texto + imagem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>
            <p:ph idx="2" type="pic"/>
          </p:nvPr>
        </p:nvSpPr>
        <p:spPr>
          <a:xfrm>
            <a:off x="5011137" y="498270"/>
            <a:ext cx="3878400" cy="51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992777" y="1479465"/>
            <a:ext cx="3868200" cy="44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992777" y="498269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800"/>
              <a:buNone/>
              <a:defRPr b="1" sz="28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8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0" y="6656173"/>
            <a:ext cx="9144000" cy="1113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476" y="6589859"/>
            <a:ext cx="9144000" cy="4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386567" y="900198"/>
            <a:ext cx="1321936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84912" t="0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4" type="body"/>
          </p:nvPr>
        </p:nvSpPr>
        <p:spPr>
          <a:xfrm>
            <a:off x="5021188" y="5782801"/>
            <a:ext cx="3868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700"/>
              <a:buNone/>
              <a:defRPr sz="700">
                <a:solidFill>
                  <a:srgbClr val="7F7F7F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992778" y="6133199"/>
            <a:ext cx="789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2549" r="0" t="0"/>
          <a:stretch/>
        </p:blipFill>
        <p:spPr>
          <a:xfrm>
            <a:off x="-34834" y="0"/>
            <a:ext cx="898998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title"/>
          </p:nvPr>
        </p:nvSpPr>
        <p:spPr>
          <a:xfrm>
            <a:off x="628650" y="1609039"/>
            <a:ext cx="4816561" cy="418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pt-BR" sz="5400"/>
              <a:t>Pesquisa Bibliográfica em Base de Dados confiáveis</a:t>
            </a:r>
            <a:br>
              <a:rPr lang="pt-BR" sz="5400"/>
            </a:b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ctrTitle"/>
          </p:nvPr>
        </p:nvSpPr>
        <p:spPr>
          <a:xfrm>
            <a:off x="0" y="4181294"/>
            <a:ext cx="9152309" cy="1413136"/>
          </a:xfrm>
          <a:prstGeom prst="rect">
            <a:avLst/>
          </a:prstGeom>
          <a:solidFill>
            <a:srgbClr val="005388"/>
          </a:solidFill>
          <a:ln cap="flat" cmpd="sng" w="9525">
            <a:solidFill>
              <a:srgbClr val="0053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pt-BR" sz="5400"/>
              <a:t>Pesquisa Bibliográfica em Base de Dados confiáveis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-1" y="5943489"/>
            <a:ext cx="9152311" cy="584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888888"/>
              </a:buClr>
              <a:buSzPts val="1800"/>
              <a:buNone/>
            </a:pPr>
            <a:r>
              <a:rPr lang="pt-BR"/>
              <a:t>Professora Doutora Iara Carnevale de Almeida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172601" y="1896569"/>
            <a:ext cx="501079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pt-BR" sz="2600"/>
              <a:t>A imaginação é mais importante que a ciência, porque a ciência é limitada, ao passo que a imaginação abrange o mundo inteiro.</a:t>
            </a:r>
            <a:endParaRPr sz="26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172601" y="5181600"/>
            <a:ext cx="3890448" cy="271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600"/>
              </a:spcAft>
              <a:buClr>
                <a:srgbClr val="D8D8D8"/>
              </a:buClr>
              <a:buSzPts val="1400"/>
              <a:buNone/>
            </a:pPr>
            <a:r>
              <a:rPr lang="pt-BR"/>
              <a:t>Albert Einstein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4200">
                <a:latin typeface="Calibri"/>
                <a:ea typeface="Calibri"/>
                <a:cs typeface="Calibri"/>
                <a:sym typeface="Calibri"/>
              </a:rPr>
              <a:t>Etapas</a:t>
            </a:r>
            <a:r>
              <a:rPr b="1" lang="pt-BR" sz="4200">
                <a:latin typeface="Calibri"/>
                <a:ea typeface="Calibri"/>
                <a:cs typeface="Calibri"/>
                <a:sym typeface="Calibri"/>
              </a:rPr>
              <a:t> necessárias para elaborar Projeto de Pesquisa</a:t>
            </a:r>
            <a:endParaRPr b="1" sz="4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Escolher a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Temática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Revisar literatura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iniciar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Referencial teórico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Formular o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(1-2)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Construir a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(1-3)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os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Objetivos geral e específicos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resolver etapa (3)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Escrever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(1-4)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satisfazer  os objetivos específicos definidos em etapa (5)</a:t>
            </a:r>
            <a:endParaRPr b="1"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 as atividades necessárias, definidas em etapa (7)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065" y="4282850"/>
            <a:ext cx="2215475" cy="221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1479116" y="5043225"/>
            <a:ext cx="2215476" cy="6399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ABNT</a:t>
            </a:r>
          </a:p>
        </p:txBody>
      </p:sp>
      <p:sp>
        <p:nvSpPr>
          <p:cNvPr id="125" name="Google Shape;125;p23"/>
          <p:cNvSpPr/>
          <p:nvPr/>
        </p:nvSpPr>
        <p:spPr>
          <a:xfrm>
            <a:off x="992775" y="1782131"/>
            <a:ext cx="6057003" cy="1051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Base de Dados Confiáveis</a:t>
            </a:r>
          </a:p>
        </p:txBody>
      </p:sp>
      <p:sp>
        <p:nvSpPr>
          <p:cNvPr id="126" name="Google Shape;126;p23"/>
          <p:cNvSpPr/>
          <p:nvPr/>
        </p:nvSpPr>
        <p:spPr>
          <a:xfrm>
            <a:off x="4104400" y="3428988"/>
            <a:ext cx="4318154" cy="10516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Fichamento</a:t>
            </a:r>
          </a:p>
        </p:txBody>
      </p:sp>
      <p:sp>
        <p:nvSpPr>
          <p:cNvPr id="127" name="Google Shape;127;p23"/>
          <p:cNvSpPr txBox="1"/>
          <p:nvPr>
            <p:ph idx="4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4200">
                <a:solidFill>
                  <a:srgbClr val="005388"/>
                </a:solidFill>
                <a:latin typeface="Calibri"/>
                <a:ea typeface="Calibri"/>
                <a:cs typeface="Calibri"/>
                <a:sym typeface="Calibri"/>
              </a:rPr>
              <a:t>Pesquisa Bibliográfica</a:t>
            </a:r>
            <a:endParaRPr b="1" sz="4200">
              <a:solidFill>
                <a:srgbClr val="0053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596952" y="1511677"/>
            <a:ext cx="7896900" cy="4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992775" y="1511675"/>
            <a:ext cx="7664400" cy="4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São coleções eletrônicas que armazenam e disponibilizam grandes volumes de informações, organizadas de forma estruturada possibilitando a consulta rápida e facilitada a diversos documentos.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As bases de dados reúnem revistas científicas, referências, vídeos, iconografia, cartografia, música entre outros. Existem bases que são multidisciplinares e outras específicas para algumas áreas, como por exemplo, a PUBMED, que é da área biomédica.</a:t>
            </a:r>
            <a:b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34" name="Google Shape;134;p24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Base de Dados</a:t>
            </a:r>
            <a:endParaRPr b="1" sz="5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596952" y="1511677"/>
            <a:ext cx="7896900" cy="4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3" type="body"/>
          </p:nvPr>
        </p:nvSpPr>
        <p:spPr>
          <a:xfrm>
            <a:off x="623551" y="1951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Como acessar?</a:t>
            </a:r>
            <a:endParaRPr b="1" sz="5400"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796" y="1511676"/>
            <a:ext cx="7438865" cy="49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2197050" y="1133200"/>
            <a:ext cx="4749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https://www.unicesumar.edu.br/pesquisa/bases-de-dados/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1596952" y="1511677"/>
            <a:ext cx="7896900" cy="4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>
            <p:ph idx="3" type="body"/>
          </p:nvPr>
        </p:nvSpPr>
        <p:spPr>
          <a:xfrm>
            <a:off x="623551" y="1951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Como acessar?</a:t>
            </a:r>
            <a:endParaRPr b="1" sz="5400"/>
          </a:p>
        </p:txBody>
      </p:sp>
      <p:sp>
        <p:nvSpPr>
          <p:cNvPr id="149" name="Google Shape;149;p26"/>
          <p:cNvSpPr txBox="1"/>
          <p:nvPr/>
        </p:nvSpPr>
        <p:spPr>
          <a:xfrm>
            <a:off x="2197050" y="1133200"/>
            <a:ext cx="4749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https://www.unicesumar.edu.br/pesquisa/bases-de-dados/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75" y="1736051"/>
            <a:ext cx="7896900" cy="474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1973745" y="5493616"/>
            <a:ext cx="18525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</a:rPr>
              <a:t>Direta</a:t>
            </a:r>
            <a:endParaRPr/>
          </a:p>
        </p:txBody>
      </p:sp>
      <p:sp>
        <p:nvSpPr>
          <p:cNvPr id="156" name="Google Shape;156;p27"/>
          <p:cNvSpPr/>
          <p:nvPr/>
        </p:nvSpPr>
        <p:spPr>
          <a:xfrm>
            <a:off x="5300040" y="5493628"/>
            <a:ext cx="18525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</a:rPr>
              <a:t>Indireta</a:t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3622091" y="3474631"/>
            <a:ext cx="21363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Citação</a:t>
            </a:r>
            <a:endParaRPr b="1"/>
          </a:p>
        </p:txBody>
      </p:sp>
      <p:cxnSp>
        <p:nvCxnSpPr>
          <p:cNvPr id="158" name="Google Shape;158;p27"/>
          <p:cNvCxnSpPr>
            <a:stCxn id="157" idx="2"/>
            <a:endCxn id="155" idx="0"/>
          </p:cNvCxnSpPr>
          <p:nvPr/>
        </p:nvCxnSpPr>
        <p:spPr>
          <a:xfrm rot="5400000">
            <a:off x="3301991" y="4105381"/>
            <a:ext cx="986400" cy="1790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7"/>
          <p:cNvCxnSpPr/>
          <p:nvPr/>
        </p:nvCxnSpPr>
        <p:spPr>
          <a:xfrm>
            <a:off x="4690271" y="4992055"/>
            <a:ext cx="2105700" cy="458700"/>
          </a:xfrm>
          <a:prstGeom prst="bentConnector3">
            <a:avLst>
              <a:gd fmla="val 99387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7"/>
          <p:cNvSpPr/>
          <p:nvPr/>
        </p:nvSpPr>
        <p:spPr>
          <a:xfrm>
            <a:off x="636300" y="1198788"/>
            <a:ext cx="18525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Temática &amp;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Problema</a:t>
            </a:r>
            <a:endParaRPr b="1"/>
          </a:p>
        </p:txBody>
      </p:sp>
      <p:sp>
        <p:nvSpPr>
          <p:cNvPr id="161" name="Google Shape;161;p27"/>
          <p:cNvSpPr/>
          <p:nvPr/>
        </p:nvSpPr>
        <p:spPr>
          <a:xfrm flipH="1" rot="10800000">
            <a:off x="2702170" y="1525185"/>
            <a:ext cx="7065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 flipH="1" rot="-5400000">
            <a:off x="4329840" y="2666846"/>
            <a:ext cx="720900" cy="37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3599117" y="1198775"/>
            <a:ext cx="18525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Revisar Literatura</a:t>
            </a:r>
            <a:endParaRPr b="1"/>
          </a:p>
        </p:txBody>
      </p:sp>
      <p:sp>
        <p:nvSpPr>
          <p:cNvPr id="164" name="Google Shape;164;p27"/>
          <p:cNvSpPr/>
          <p:nvPr/>
        </p:nvSpPr>
        <p:spPr>
          <a:xfrm>
            <a:off x="6978209" y="3191232"/>
            <a:ext cx="2105700" cy="1631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</a:rPr>
              <a:t>Referência Bibliográfica,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</a:rPr>
              <a:t>conforme ABNT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65" name="Google Shape;165;p27"/>
          <p:cNvSpPr/>
          <p:nvPr/>
        </p:nvSpPr>
        <p:spPr>
          <a:xfrm flipH="1" rot="10800000">
            <a:off x="6015010" y="3801029"/>
            <a:ext cx="7065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034" y="5077056"/>
            <a:ext cx="1289965" cy="13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Citação e Referência Bibliográfica</a:t>
            </a:r>
            <a:endParaRPr b="1"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/>
        </p:nvSpPr>
        <p:spPr>
          <a:xfrm>
            <a:off x="693350" y="1651475"/>
            <a:ext cx="83229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F0000"/>
                </a:solidFill>
              </a:rPr>
              <a:t>Direta</a:t>
            </a:r>
            <a:r>
              <a:rPr lang="pt-BR" sz="3200">
                <a:solidFill>
                  <a:srgbClr val="FF0000"/>
                </a:solidFill>
              </a:rPr>
              <a:t>:</a:t>
            </a:r>
            <a:r>
              <a:rPr lang="pt-BR" sz="3200"/>
              <a:t> Conforme AUTOR(ANO), “ …. texto escrito pelo AUTOR, sem alterações …”</a:t>
            </a:r>
            <a:endParaRPr sz="3200"/>
          </a:p>
        </p:txBody>
      </p:sp>
      <p:sp>
        <p:nvSpPr>
          <p:cNvPr id="174" name="Google Shape;174;p28"/>
          <p:cNvSpPr txBox="1"/>
          <p:nvPr/>
        </p:nvSpPr>
        <p:spPr>
          <a:xfrm>
            <a:off x="693350" y="4269625"/>
            <a:ext cx="83229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38761D"/>
                </a:solidFill>
              </a:rPr>
              <a:t>Indireta</a:t>
            </a:r>
            <a:r>
              <a:rPr lang="pt-BR" sz="3200"/>
              <a:t>: Conforme AUTOR(ANO), …. texto escrito com as suas palavras sobre o que o AUTOR disse.</a:t>
            </a:r>
            <a:endParaRPr sz="3200"/>
          </a:p>
        </p:txBody>
      </p:sp>
      <p:sp>
        <p:nvSpPr>
          <p:cNvPr id="175" name="Google Shape;175;p28"/>
          <p:cNvSpPr txBox="1"/>
          <p:nvPr/>
        </p:nvSpPr>
        <p:spPr>
          <a:xfrm>
            <a:off x="3977200" y="5600625"/>
            <a:ext cx="244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Recomendado!</a:t>
            </a:r>
            <a:endParaRPr b="1"/>
          </a:p>
        </p:txBody>
      </p:sp>
      <p:sp>
        <p:nvSpPr>
          <p:cNvPr id="176" name="Google Shape;176;p28"/>
          <p:cNvSpPr txBox="1"/>
          <p:nvPr/>
        </p:nvSpPr>
        <p:spPr>
          <a:xfrm>
            <a:off x="801275" y="2907925"/>
            <a:ext cx="79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Usar o mínimo necessário! Evitar ao máximo o </a:t>
            </a:r>
            <a:r>
              <a:rPr b="1" i="1" lang="pt-BR" sz="2400"/>
              <a:t>apud</a:t>
            </a:r>
            <a:endParaRPr b="1" i="1"/>
          </a:p>
        </p:txBody>
      </p:sp>
      <p:cxnSp>
        <p:nvCxnSpPr>
          <p:cNvPr id="177" name="Google Shape;177;p28"/>
          <p:cNvCxnSpPr/>
          <p:nvPr/>
        </p:nvCxnSpPr>
        <p:spPr>
          <a:xfrm flipH="1" rot="10800000">
            <a:off x="2533425" y="3859525"/>
            <a:ext cx="4458900" cy="21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8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Citação e Referência Bibliográfica</a:t>
            </a:r>
            <a:endParaRPr b="1"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idx="11" type="ftr"/>
          </p:nvPr>
        </p:nvSpPr>
        <p:spPr>
          <a:xfrm>
            <a:off x="992778" y="6133199"/>
            <a:ext cx="789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Clique para editar o título da disciplina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2396425" y="1425650"/>
            <a:ext cx="4552849" cy="7325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3D85C6"/>
                </a:solidFill>
                <a:latin typeface="Arial"/>
              </a:rPr>
              <a:t>Bom trabalho!!!</a:t>
            </a:r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675" y="2582574"/>
            <a:ext cx="2772400" cy="27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