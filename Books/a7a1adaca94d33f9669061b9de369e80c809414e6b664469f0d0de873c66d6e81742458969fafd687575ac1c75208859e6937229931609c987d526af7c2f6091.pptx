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3" r:id="rId3"/>
    <p:sldId id="301" r:id="rId4"/>
    <p:sldId id="302" r:id="rId5"/>
    <p:sldId id="319" r:id="rId6"/>
    <p:sldId id="320" r:id="rId7"/>
    <p:sldId id="304" r:id="rId8"/>
    <p:sldId id="321" r:id="rId9"/>
    <p:sldId id="305" r:id="rId10"/>
    <p:sldId id="306" r:id="rId11"/>
    <p:sldId id="318" r:id="rId12"/>
    <p:sldId id="314" r:id="rId13"/>
    <p:sldId id="315" r:id="rId14"/>
    <p:sldId id="308" r:id="rId15"/>
    <p:sldId id="281" r:id="rId16"/>
    <p:sldId id="316" r:id="rId17"/>
    <p:sldId id="317" r:id="rId18"/>
    <p:sldId id="260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88"/>
    <a:srgbClr val="AE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057BDC-CACE-4070-9197-CE6E00B9714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26DAB16-A586-4F24-AB82-0A55AD64DF5C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Pesquisador</a:t>
          </a:r>
          <a:endParaRPr lang="pt-BR" b="1" dirty="0">
            <a:solidFill>
              <a:schemeClr val="tx1"/>
            </a:solidFill>
          </a:endParaRPr>
        </a:p>
      </dgm:t>
    </dgm:pt>
    <dgm:pt modelId="{FB980006-642D-4F27-88A4-C82EB7940844}" type="parTrans" cxnId="{85EA6042-5468-41F0-A180-69F3877C1F10}">
      <dgm:prSet/>
      <dgm:spPr/>
      <dgm:t>
        <a:bodyPr/>
        <a:lstStyle/>
        <a:p>
          <a:endParaRPr lang="pt-BR"/>
        </a:p>
      </dgm:t>
    </dgm:pt>
    <dgm:pt modelId="{B29C3B5C-63DC-4312-8BFB-5F368C5C9F54}" type="sibTrans" cxnId="{85EA6042-5468-41F0-A180-69F3877C1F10}">
      <dgm:prSet/>
      <dgm:spPr>
        <a:solidFill>
          <a:schemeClr val="accent5">
            <a:lumMod val="50000"/>
            <a:alpha val="90000"/>
          </a:schemeClr>
        </a:solidFill>
      </dgm:spPr>
      <dgm:t>
        <a:bodyPr/>
        <a:lstStyle/>
        <a:p>
          <a:endParaRPr lang="pt-BR"/>
        </a:p>
      </dgm:t>
    </dgm:pt>
    <dgm:pt modelId="{10A897B9-27C5-49FE-8F46-3A09D2D2F2F3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Problema de pesquisa</a:t>
          </a:r>
          <a:endParaRPr lang="pt-BR" b="1" dirty="0">
            <a:solidFill>
              <a:schemeClr val="tx1"/>
            </a:solidFill>
          </a:endParaRPr>
        </a:p>
      </dgm:t>
    </dgm:pt>
    <dgm:pt modelId="{87BB5F2C-7F5E-4351-846F-63EFB4AE358E}" type="parTrans" cxnId="{C4D6F22C-D6B4-45E8-A8F7-15E9384A7D52}">
      <dgm:prSet/>
      <dgm:spPr/>
      <dgm:t>
        <a:bodyPr/>
        <a:lstStyle/>
        <a:p>
          <a:endParaRPr lang="pt-BR"/>
        </a:p>
      </dgm:t>
    </dgm:pt>
    <dgm:pt modelId="{D45CA85E-368E-4120-A9C3-8B7F01CE698F}" type="sibTrans" cxnId="{C4D6F22C-D6B4-45E8-A8F7-15E9384A7D52}">
      <dgm:prSet/>
      <dgm:spPr>
        <a:solidFill>
          <a:schemeClr val="accent5">
            <a:lumMod val="50000"/>
            <a:alpha val="90000"/>
          </a:schemeClr>
        </a:solidFill>
      </dgm:spPr>
      <dgm:t>
        <a:bodyPr/>
        <a:lstStyle/>
        <a:p>
          <a:endParaRPr lang="pt-BR"/>
        </a:p>
      </dgm:t>
    </dgm:pt>
    <dgm:pt modelId="{540ACED8-08F3-4D3E-82E8-F15FC479F1DD}">
      <dgm:prSet phldrT="[Texto]"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Hipóteses</a:t>
          </a:r>
          <a:endParaRPr lang="pt-BR" b="1" dirty="0">
            <a:solidFill>
              <a:schemeClr val="tx1"/>
            </a:solidFill>
          </a:endParaRPr>
        </a:p>
      </dgm:t>
    </dgm:pt>
    <dgm:pt modelId="{95AB992C-B768-495B-BDA1-7546B4013E21}" type="parTrans" cxnId="{0EE37E0F-60EA-4AB8-BE2E-1ECC24AA6330}">
      <dgm:prSet/>
      <dgm:spPr/>
      <dgm:t>
        <a:bodyPr/>
        <a:lstStyle/>
        <a:p>
          <a:endParaRPr lang="pt-BR"/>
        </a:p>
      </dgm:t>
    </dgm:pt>
    <dgm:pt modelId="{785D154D-A8FB-425C-848E-AB0D787C3BF4}" type="sibTrans" cxnId="{0EE37E0F-60EA-4AB8-BE2E-1ECC24AA6330}">
      <dgm:prSet/>
      <dgm:spPr>
        <a:solidFill>
          <a:schemeClr val="accent5">
            <a:lumMod val="50000"/>
            <a:alpha val="90000"/>
          </a:schemeClr>
        </a:solidFill>
      </dgm:spPr>
      <dgm:t>
        <a:bodyPr/>
        <a:lstStyle/>
        <a:p>
          <a:endParaRPr lang="pt-BR"/>
        </a:p>
      </dgm:t>
    </dgm:pt>
    <dgm:pt modelId="{4922D389-34BD-4269-A6A5-B1D347B0390D}">
      <dgm:prSet/>
      <dgm:spPr/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Confirmação das hipóteses</a:t>
          </a:r>
          <a:endParaRPr lang="pt-BR" b="1" dirty="0">
            <a:solidFill>
              <a:schemeClr val="tx1"/>
            </a:solidFill>
          </a:endParaRPr>
        </a:p>
      </dgm:t>
    </dgm:pt>
    <dgm:pt modelId="{355B4C18-4854-4970-A900-DD2E801DE3A1}" type="parTrans" cxnId="{B3282C78-50DA-4339-BE26-5F4BF568F847}">
      <dgm:prSet/>
      <dgm:spPr/>
      <dgm:t>
        <a:bodyPr/>
        <a:lstStyle/>
        <a:p>
          <a:endParaRPr lang="pt-BR"/>
        </a:p>
      </dgm:t>
    </dgm:pt>
    <dgm:pt modelId="{D83A8F9D-2F7A-4B45-8BA3-4E21F71DED48}" type="sibTrans" cxnId="{B3282C78-50DA-4339-BE26-5F4BF568F847}">
      <dgm:prSet/>
      <dgm:spPr/>
      <dgm:t>
        <a:bodyPr/>
        <a:lstStyle/>
        <a:p>
          <a:endParaRPr lang="pt-BR"/>
        </a:p>
      </dgm:t>
    </dgm:pt>
    <dgm:pt modelId="{9AAE5B0D-12B5-449A-BD59-6FB9F5EBE3F4}" type="pres">
      <dgm:prSet presAssocID="{9A057BDC-CACE-4070-9197-CE6E00B9714D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03F6249D-6027-4F5F-A790-CEC4D78202E9}" type="pres">
      <dgm:prSet presAssocID="{9A057BDC-CACE-4070-9197-CE6E00B9714D}" presName="dummyMaxCanvas" presStyleCnt="0">
        <dgm:presLayoutVars/>
      </dgm:prSet>
      <dgm:spPr/>
    </dgm:pt>
    <dgm:pt modelId="{32EBA56F-401E-47A8-979F-DBE128DE3942}" type="pres">
      <dgm:prSet presAssocID="{9A057BDC-CACE-4070-9197-CE6E00B9714D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D067F2-333C-47A5-B5EB-A59A28E5E354}" type="pres">
      <dgm:prSet presAssocID="{9A057BDC-CACE-4070-9197-CE6E00B9714D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888A5D-2BFF-429F-9FD3-6FB00758F84B}" type="pres">
      <dgm:prSet presAssocID="{9A057BDC-CACE-4070-9197-CE6E00B9714D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57AF09F-EC22-4D36-AADD-49FB4BA9DA41}" type="pres">
      <dgm:prSet presAssocID="{9A057BDC-CACE-4070-9197-CE6E00B9714D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2B4B0DC-BAB7-4065-B055-38B30839E22A}" type="pres">
      <dgm:prSet presAssocID="{9A057BDC-CACE-4070-9197-CE6E00B9714D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90B7AD3-075D-4775-83AE-CC70C37C4281}" type="pres">
      <dgm:prSet presAssocID="{9A057BDC-CACE-4070-9197-CE6E00B9714D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0905E2C-18A1-4B40-A52F-75BE6DBB961B}" type="pres">
      <dgm:prSet presAssocID="{9A057BDC-CACE-4070-9197-CE6E00B9714D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2ABDBE4-EE36-4DF4-BD5F-19D3E6F3E56E}" type="pres">
      <dgm:prSet presAssocID="{9A057BDC-CACE-4070-9197-CE6E00B9714D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BB7B563-E2F5-4FED-B961-312CCE013499}" type="pres">
      <dgm:prSet presAssocID="{9A057BDC-CACE-4070-9197-CE6E00B9714D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1EDEB4-7DF3-403C-AB41-10023B506587}" type="pres">
      <dgm:prSet presAssocID="{9A057BDC-CACE-4070-9197-CE6E00B9714D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9AA01C6-E704-4390-9600-76415BAC2635}" type="pres">
      <dgm:prSet presAssocID="{9A057BDC-CACE-4070-9197-CE6E00B9714D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0EE37E0F-60EA-4AB8-BE2E-1ECC24AA6330}" srcId="{9A057BDC-CACE-4070-9197-CE6E00B9714D}" destId="{540ACED8-08F3-4D3E-82E8-F15FC479F1DD}" srcOrd="2" destOrd="0" parTransId="{95AB992C-B768-495B-BDA1-7546B4013E21}" sibTransId="{785D154D-A8FB-425C-848E-AB0D787C3BF4}"/>
    <dgm:cxn modelId="{C2F15A51-8171-46B2-9BBA-10CBD63B9611}" type="presOf" srcId="{9A057BDC-CACE-4070-9197-CE6E00B9714D}" destId="{9AAE5B0D-12B5-449A-BD59-6FB9F5EBE3F4}" srcOrd="0" destOrd="0" presId="urn:microsoft.com/office/officeart/2005/8/layout/vProcess5"/>
    <dgm:cxn modelId="{85EA6042-5468-41F0-A180-69F3877C1F10}" srcId="{9A057BDC-CACE-4070-9197-CE6E00B9714D}" destId="{526DAB16-A586-4F24-AB82-0A55AD64DF5C}" srcOrd="0" destOrd="0" parTransId="{FB980006-642D-4F27-88A4-C82EB7940844}" sibTransId="{B29C3B5C-63DC-4312-8BFB-5F368C5C9F54}"/>
    <dgm:cxn modelId="{C0F5D57E-D502-43B6-870E-F01A71AB2B24}" type="presOf" srcId="{785D154D-A8FB-425C-848E-AB0D787C3BF4}" destId="{30905E2C-18A1-4B40-A52F-75BE6DBB961B}" srcOrd="0" destOrd="0" presId="urn:microsoft.com/office/officeart/2005/8/layout/vProcess5"/>
    <dgm:cxn modelId="{B3282C78-50DA-4339-BE26-5F4BF568F847}" srcId="{9A057BDC-CACE-4070-9197-CE6E00B9714D}" destId="{4922D389-34BD-4269-A6A5-B1D347B0390D}" srcOrd="3" destOrd="0" parTransId="{355B4C18-4854-4970-A900-DD2E801DE3A1}" sibTransId="{D83A8F9D-2F7A-4B45-8BA3-4E21F71DED48}"/>
    <dgm:cxn modelId="{C4D6F22C-D6B4-45E8-A8F7-15E9384A7D52}" srcId="{9A057BDC-CACE-4070-9197-CE6E00B9714D}" destId="{10A897B9-27C5-49FE-8F46-3A09D2D2F2F3}" srcOrd="1" destOrd="0" parTransId="{87BB5F2C-7F5E-4351-846F-63EFB4AE358E}" sibTransId="{D45CA85E-368E-4120-A9C3-8B7F01CE698F}"/>
    <dgm:cxn modelId="{29245D23-42BB-4A76-87F8-7C9473C17715}" type="presOf" srcId="{10A897B9-27C5-49FE-8F46-3A09D2D2F2F3}" destId="{D9D067F2-333C-47A5-B5EB-A59A28E5E354}" srcOrd="0" destOrd="0" presId="urn:microsoft.com/office/officeart/2005/8/layout/vProcess5"/>
    <dgm:cxn modelId="{743491A5-444B-45BA-93EF-F2E2EA7E52BB}" type="presOf" srcId="{B29C3B5C-63DC-4312-8BFB-5F368C5C9F54}" destId="{82B4B0DC-BAB7-4065-B055-38B30839E22A}" srcOrd="0" destOrd="0" presId="urn:microsoft.com/office/officeart/2005/8/layout/vProcess5"/>
    <dgm:cxn modelId="{9DAFC7C3-E6AD-41C9-B335-5F382C3F3C77}" type="presOf" srcId="{526DAB16-A586-4F24-AB82-0A55AD64DF5C}" destId="{32EBA56F-401E-47A8-979F-DBE128DE3942}" srcOrd="0" destOrd="0" presId="urn:microsoft.com/office/officeart/2005/8/layout/vProcess5"/>
    <dgm:cxn modelId="{64E15381-E0EF-474E-ACD4-BA42FC86C0DF}" type="presOf" srcId="{4922D389-34BD-4269-A6A5-B1D347B0390D}" destId="{B9AA01C6-E704-4390-9600-76415BAC2635}" srcOrd="1" destOrd="0" presId="urn:microsoft.com/office/officeart/2005/8/layout/vProcess5"/>
    <dgm:cxn modelId="{0B1E2AA4-6E8F-435E-8BCC-3AAE8ACAC289}" type="presOf" srcId="{10A897B9-27C5-49FE-8F46-3A09D2D2F2F3}" destId="{2BB7B563-E2F5-4FED-B961-312CCE013499}" srcOrd="1" destOrd="0" presId="urn:microsoft.com/office/officeart/2005/8/layout/vProcess5"/>
    <dgm:cxn modelId="{7F872B75-5C0C-444B-A6EA-2909CBD86447}" type="presOf" srcId="{540ACED8-08F3-4D3E-82E8-F15FC479F1DD}" destId="{7D888A5D-2BFF-429F-9FD3-6FB00758F84B}" srcOrd="0" destOrd="0" presId="urn:microsoft.com/office/officeart/2005/8/layout/vProcess5"/>
    <dgm:cxn modelId="{E78BC426-0069-458F-B8F9-F4D5346CB15E}" type="presOf" srcId="{540ACED8-08F3-4D3E-82E8-F15FC479F1DD}" destId="{B31EDEB4-7DF3-403C-AB41-10023B506587}" srcOrd="1" destOrd="0" presId="urn:microsoft.com/office/officeart/2005/8/layout/vProcess5"/>
    <dgm:cxn modelId="{1DC76233-225F-429D-AEC2-389E4A2CDCF6}" type="presOf" srcId="{D45CA85E-368E-4120-A9C3-8B7F01CE698F}" destId="{D90B7AD3-075D-4775-83AE-CC70C37C4281}" srcOrd="0" destOrd="0" presId="urn:microsoft.com/office/officeart/2005/8/layout/vProcess5"/>
    <dgm:cxn modelId="{AEA1FE2D-D4B4-4623-9756-F5A4B797E703}" type="presOf" srcId="{526DAB16-A586-4F24-AB82-0A55AD64DF5C}" destId="{C2ABDBE4-EE36-4DF4-BD5F-19D3E6F3E56E}" srcOrd="1" destOrd="0" presId="urn:microsoft.com/office/officeart/2005/8/layout/vProcess5"/>
    <dgm:cxn modelId="{692957C9-05CC-4847-82C0-26B130E60A8E}" type="presOf" srcId="{4922D389-34BD-4269-A6A5-B1D347B0390D}" destId="{557AF09F-EC22-4D36-AADD-49FB4BA9DA41}" srcOrd="0" destOrd="0" presId="urn:microsoft.com/office/officeart/2005/8/layout/vProcess5"/>
    <dgm:cxn modelId="{4F91F068-E99D-40F4-B1FA-B64C66D0CB74}" type="presParOf" srcId="{9AAE5B0D-12B5-449A-BD59-6FB9F5EBE3F4}" destId="{03F6249D-6027-4F5F-A790-CEC4D78202E9}" srcOrd="0" destOrd="0" presId="urn:microsoft.com/office/officeart/2005/8/layout/vProcess5"/>
    <dgm:cxn modelId="{D7654AF5-2071-469E-8B57-D897550A9A90}" type="presParOf" srcId="{9AAE5B0D-12B5-449A-BD59-6FB9F5EBE3F4}" destId="{32EBA56F-401E-47A8-979F-DBE128DE3942}" srcOrd="1" destOrd="0" presId="urn:microsoft.com/office/officeart/2005/8/layout/vProcess5"/>
    <dgm:cxn modelId="{73399349-0508-483D-9CE3-1521BB251904}" type="presParOf" srcId="{9AAE5B0D-12B5-449A-BD59-6FB9F5EBE3F4}" destId="{D9D067F2-333C-47A5-B5EB-A59A28E5E354}" srcOrd="2" destOrd="0" presId="urn:microsoft.com/office/officeart/2005/8/layout/vProcess5"/>
    <dgm:cxn modelId="{494539D6-D899-4B6B-BCD6-AB29A18488EE}" type="presParOf" srcId="{9AAE5B0D-12B5-449A-BD59-6FB9F5EBE3F4}" destId="{7D888A5D-2BFF-429F-9FD3-6FB00758F84B}" srcOrd="3" destOrd="0" presId="urn:microsoft.com/office/officeart/2005/8/layout/vProcess5"/>
    <dgm:cxn modelId="{E293479D-3900-473D-BF6E-B7E26B218436}" type="presParOf" srcId="{9AAE5B0D-12B5-449A-BD59-6FB9F5EBE3F4}" destId="{557AF09F-EC22-4D36-AADD-49FB4BA9DA41}" srcOrd="4" destOrd="0" presId="urn:microsoft.com/office/officeart/2005/8/layout/vProcess5"/>
    <dgm:cxn modelId="{55E7CEDB-4764-4240-B654-2856E9609F77}" type="presParOf" srcId="{9AAE5B0D-12B5-449A-BD59-6FB9F5EBE3F4}" destId="{82B4B0DC-BAB7-4065-B055-38B30839E22A}" srcOrd="5" destOrd="0" presId="urn:microsoft.com/office/officeart/2005/8/layout/vProcess5"/>
    <dgm:cxn modelId="{D5CB40DB-3F07-49E5-99B3-A60C646267C6}" type="presParOf" srcId="{9AAE5B0D-12B5-449A-BD59-6FB9F5EBE3F4}" destId="{D90B7AD3-075D-4775-83AE-CC70C37C4281}" srcOrd="6" destOrd="0" presId="urn:microsoft.com/office/officeart/2005/8/layout/vProcess5"/>
    <dgm:cxn modelId="{9EC5047C-B539-42E7-9D92-4D9227C7207B}" type="presParOf" srcId="{9AAE5B0D-12B5-449A-BD59-6FB9F5EBE3F4}" destId="{30905E2C-18A1-4B40-A52F-75BE6DBB961B}" srcOrd="7" destOrd="0" presId="urn:microsoft.com/office/officeart/2005/8/layout/vProcess5"/>
    <dgm:cxn modelId="{13099540-D761-45B5-BAFC-03C8822F338B}" type="presParOf" srcId="{9AAE5B0D-12B5-449A-BD59-6FB9F5EBE3F4}" destId="{C2ABDBE4-EE36-4DF4-BD5F-19D3E6F3E56E}" srcOrd="8" destOrd="0" presId="urn:microsoft.com/office/officeart/2005/8/layout/vProcess5"/>
    <dgm:cxn modelId="{6D4AB119-EBD8-4124-BF66-3C4FC309BCBB}" type="presParOf" srcId="{9AAE5B0D-12B5-449A-BD59-6FB9F5EBE3F4}" destId="{2BB7B563-E2F5-4FED-B961-312CCE013499}" srcOrd="9" destOrd="0" presId="urn:microsoft.com/office/officeart/2005/8/layout/vProcess5"/>
    <dgm:cxn modelId="{5C4E5353-FCD1-4B08-8275-3E9829BC2DC8}" type="presParOf" srcId="{9AAE5B0D-12B5-449A-BD59-6FB9F5EBE3F4}" destId="{B31EDEB4-7DF3-403C-AB41-10023B506587}" srcOrd="10" destOrd="0" presId="urn:microsoft.com/office/officeart/2005/8/layout/vProcess5"/>
    <dgm:cxn modelId="{570A3967-596E-45AD-A1D2-BE4E27C40381}" type="presParOf" srcId="{9AAE5B0D-12B5-449A-BD59-6FB9F5EBE3F4}" destId="{B9AA01C6-E704-4390-9600-76415BAC263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BA56F-401E-47A8-979F-DBE128DE3942}">
      <dsp:nvSpPr>
        <dsp:cNvPr id="0" name=""/>
        <dsp:cNvSpPr/>
      </dsp:nvSpPr>
      <dsp:spPr>
        <a:xfrm>
          <a:off x="0" y="0"/>
          <a:ext cx="5535636" cy="96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b="1" kern="1200" dirty="0" smtClean="0">
              <a:solidFill>
                <a:schemeClr val="tx1"/>
              </a:solidFill>
            </a:rPr>
            <a:t>Pesquisador</a:t>
          </a:r>
          <a:endParaRPr lang="pt-BR" sz="2900" b="1" kern="1200" dirty="0">
            <a:solidFill>
              <a:schemeClr val="tx1"/>
            </a:solidFill>
          </a:endParaRPr>
        </a:p>
      </dsp:txBody>
      <dsp:txXfrm>
        <a:off x="28152" y="28152"/>
        <a:ext cx="4417227" cy="904877"/>
      </dsp:txXfrm>
    </dsp:sp>
    <dsp:sp modelId="{D9D067F2-333C-47A5-B5EB-A59A28E5E354}">
      <dsp:nvSpPr>
        <dsp:cNvPr id="0" name=""/>
        <dsp:cNvSpPr/>
      </dsp:nvSpPr>
      <dsp:spPr>
        <a:xfrm>
          <a:off x="463609" y="1135941"/>
          <a:ext cx="5535636" cy="96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b="1" kern="1200" dirty="0" smtClean="0">
              <a:solidFill>
                <a:schemeClr val="tx1"/>
              </a:solidFill>
            </a:rPr>
            <a:t>Problema de pesquisa</a:t>
          </a:r>
          <a:endParaRPr lang="pt-BR" sz="2900" b="1" kern="1200" dirty="0">
            <a:solidFill>
              <a:schemeClr val="tx1"/>
            </a:solidFill>
          </a:endParaRPr>
        </a:p>
      </dsp:txBody>
      <dsp:txXfrm>
        <a:off x="491761" y="1164093"/>
        <a:ext cx="4390955" cy="904877"/>
      </dsp:txXfrm>
    </dsp:sp>
    <dsp:sp modelId="{7D888A5D-2BFF-429F-9FD3-6FB00758F84B}">
      <dsp:nvSpPr>
        <dsp:cNvPr id="0" name=""/>
        <dsp:cNvSpPr/>
      </dsp:nvSpPr>
      <dsp:spPr>
        <a:xfrm>
          <a:off x="920299" y="2271883"/>
          <a:ext cx="5535636" cy="96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b="1" kern="1200" dirty="0" smtClean="0">
              <a:solidFill>
                <a:schemeClr val="tx1"/>
              </a:solidFill>
            </a:rPr>
            <a:t>Hipóteses</a:t>
          </a:r>
          <a:endParaRPr lang="pt-BR" sz="2900" b="1" kern="1200" dirty="0">
            <a:solidFill>
              <a:schemeClr val="tx1"/>
            </a:solidFill>
          </a:endParaRPr>
        </a:p>
      </dsp:txBody>
      <dsp:txXfrm>
        <a:off x="948451" y="2300035"/>
        <a:ext cx="4397874" cy="904877"/>
      </dsp:txXfrm>
    </dsp:sp>
    <dsp:sp modelId="{557AF09F-EC22-4D36-AADD-49FB4BA9DA41}">
      <dsp:nvSpPr>
        <dsp:cNvPr id="0" name=""/>
        <dsp:cNvSpPr/>
      </dsp:nvSpPr>
      <dsp:spPr>
        <a:xfrm>
          <a:off x="1383909" y="3407825"/>
          <a:ext cx="5535636" cy="96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900" b="1" kern="1200" dirty="0" smtClean="0">
              <a:solidFill>
                <a:schemeClr val="tx1"/>
              </a:solidFill>
            </a:rPr>
            <a:t>Confirmação das hipóteses</a:t>
          </a:r>
          <a:endParaRPr lang="pt-BR" sz="2900" b="1" kern="1200" dirty="0">
            <a:solidFill>
              <a:schemeClr val="tx1"/>
            </a:solidFill>
          </a:endParaRPr>
        </a:p>
      </dsp:txBody>
      <dsp:txXfrm>
        <a:off x="1412061" y="3435977"/>
        <a:ext cx="4390955" cy="904877"/>
      </dsp:txXfrm>
    </dsp:sp>
    <dsp:sp modelId="{82B4B0DC-BAB7-4065-B055-38B30839E22A}">
      <dsp:nvSpPr>
        <dsp:cNvPr id="0" name=""/>
        <dsp:cNvSpPr/>
      </dsp:nvSpPr>
      <dsp:spPr>
        <a:xfrm>
          <a:off x="4910868" y="736177"/>
          <a:ext cx="624768" cy="62476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lumMod val="5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800" kern="1200"/>
        </a:p>
      </dsp:txBody>
      <dsp:txXfrm>
        <a:off x="5051441" y="736177"/>
        <a:ext cx="343622" cy="470138"/>
      </dsp:txXfrm>
    </dsp:sp>
    <dsp:sp modelId="{D90B7AD3-075D-4775-83AE-CC70C37C4281}">
      <dsp:nvSpPr>
        <dsp:cNvPr id="0" name=""/>
        <dsp:cNvSpPr/>
      </dsp:nvSpPr>
      <dsp:spPr>
        <a:xfrm>
          <a:off x="5374478" y="1872119"/>
          <a:ext cx="624768" cy="62476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lumMod val="5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800" kern="1200"/>
        </a:p>
      </dsp:txBody>
      <dsp:txXfrm>
        <a:off x="5515051" y="1872119"/>
        <a:ext cx="343622" cy="470138"/>
      </dsp:txXfrm>
    </dsp:sp>
    <dsp:sp modelId="{30905E2C-18A1-4B40-A52F-75BE6DBB961B}">
      <dsp:nvSpPr>
        <dsp:cNvPr id="0" name=""/>
        <dsp:cNvSpPr/>
      </dsp:nvSpPr>
      <dsp:spPr>
        <a:xfrm>
          <a:off x="5831168" y="3008061"/>
          <a:ext cx="624768" cy="62476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lumMod val="5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800" kern="1200"/>
        </a:p>
      </dsp:txBody>
      <dsp:txXfrm>
        <a:off x="5971741" y="3008061"/>
        <a:ext cx="343622" cy="470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0D444-4FFF-4538-83A5-628A4220AF66}" type="datetimeFigureOut">
              <a:rPr lang="pt-BR" smtClean="0"/>
              <a:t>04/03/2020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95DF9-B0BC-44EF-BE99-FE506395C9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628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8B9D2-0535-47CE-80B8-0590C132AC7D}" type="datetimeFigureOut">
              <a:rPr lang="pt-BR" smtClean="0"/>
              <a:t>04/03/2020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3BA69-02AD-48EC-8F96-3CFEEEB52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09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1609039"/>
            <a:ext cx="4816561" cy="41821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 smtClean="0"/>
              <a:t>Clique para editar o título da disciplina</a:t>
            </a:r>
            <a:endParaRPr lang="en-US" dirty="0"/>
          </a:p>
        </p:txBody>
      </p:sp>
      <p:sp>
        <p:nvSpPr>
          <p:cNvPr id="8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00625" y="1"/>
            <a:ext cx="4143374" cy="6858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18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0" y="0"/>
            <a:ext cx="9144000" cy="418129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 smtClean="0"/>
          </a:p>
          <a:p>
            <a:r>
              <a:rPr lang="pt-BR" dirty="0" smtClean="0"/>
              <a:t>Clique no ícone para adicionar uma imagem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4181294"/>
            <a:ext cx="9152309" cy="1413136"/>
          </a:xfrm>
          <a:solidFill>
            <a:srgbClr val="005388"/>
          </a:solidFill>
          <a:ln>
            <a:solidFill>
              <a:srgbClr val="005388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 smtClean="0"/>
              <a:t>Clique para editar </a:t>
            </a:r>
            <a:br>
              <a:rPr lang="pt-BR" dirty="0" smtClean="0"/>
            </a:br>
            <a:r>
              <a:rPr lang="pt-BR" dirty="0" smtClean="0"/>
              <a:t>o título da aula</a:t>
            </a:r>
            <a:endParaRPr lang="en-US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-1" y="5943489"/>
            <a:ext cx="9152311" cy="5848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nome do professor(a)</a:t>
            </a:r>
          </a:p>
        </p:txBody>
      </p:sp>
    </p:spTree>
    <p:extLst>
      <p:ext uri="{BB962C8B-B14F-4D97-AF65-F5344CB8AC3E}">
        <p14:creationId xmlns:p14="http://schemas.microsoft.com/office/powerpoint/2010/main" val="18699463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86" y="700193"/>
            <a:ext cx="7669427" cy="547409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172601" y="1896569"/>
            <a:ext cx="5010793" cy="2852737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pt-BR" dirty="0" smtClean="0"/>
              <a:t>Clique para </a:t>
            </a:r>
            <a:br>
              <a:rPr lang="pt-BR" dirty="0" smtClean="0"/>
            </a:br>
            <a:r>
              <a:rPr lang="pt-BR" dirty="0" smtClean="0"/>
              <a:t>editar</a:t>
            </a:r>
            <a:br>
              <a:rPr lang="pt-BR" dirty="0" smtClean="0"/>
            </a:br>
            <a:r>
              <a:rPr lang="pt-BR" dirty="0" smtClean="0"/>
              <a:t>o texto</a:t>
            </a:r>
            <a:endParaRPr lang="en-US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172601" y="5181600"/>
            <a:ext cx="3890448" cy="271441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nome do autor(a)</a:t>
            </a:r>
          </a:p>
        </p:txBody>
      </p:sp>
    </p:spTree>
    <p:extLst>
      <p:ext uri="{BB962C8B-B14F-4D97-AF65-F5344CB8AC3E}">
        <p14:creationId xmlns:p14="http://schemas.microsoft.com/office/powerpoint/2010/main" val="2700969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2209800"/>
            <a:ext cx="7896751" cy="40767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texto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92777" y="498269"/>
            <a:ext cx="7896751" cy="444706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número da unidade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16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992777" y="1042839"/>
            <a:ext cx="7896751" cy="938169"/>
          </a:xfrm>
        </p:spPr>
        <p:txBody>
          <a:bodyPr anchor="ctr">
            <a:normAutofit/>
          </a:bodyPr>
          <a:lstStyle>
            <a:lvl1pPr marL="0" indent="0">
              <a:buNone/>
              <a:defRPr sz="2400" b="0" baseline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título da disciplina</a:t>
            </a:r>
          </a:p>
        </p:txBody>
      </p:sp>
    </p:spTree>
    <p:extLst>
      <p:ext uri="{BB962C8B-B14F-4D97-AF65-F5344CB8AC3E}">
        <p14:creationId xmlns:p14="http://schemas.microsoft.com/office/powerpoint/2010/main" val="2001605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92777" y="498269"/>
            <a:ext cx="7896751" cy="944990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título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672050"/>
            <a:ext cx="7896751" cy="42323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texto</a:t>
            </a:r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589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colun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92777" y="498269"/>
            <a:ext cx="7896751" cy="944990"/>
          </a:xfrm>
        </p:spPr>
        <p:txBody>
          <a:bodyPr anchor="ctr">
            <a:normAutofit/>
          </a:bodyPr>
          <a:lstStyle>
            <a:lvl1pPr marL="0" indent="0">
              <a:buNone/>
              <a:defRPr sz="2800" b="1" baseline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título</a:t>
            </a:r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992777" y="1672050"/>
            <a:ext cx="3868340" cy="424169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19918" y="1672050"/>
            <a:ext cx="3868340" cy="424169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7761171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si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498269"/>
            <a:ext cx="7896751" cy="540613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texto</a:t>
            </a:r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026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simples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992777" y="498269"/>
            <a:ext cx="3868340" cy="54154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19918" y="498268"/>
            <a:ext cx="3868340" cy="541547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1685781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image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788670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8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5011137" y="1527998"/>
            <a:ext cx="3868340" cy="419353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527998"/>
            <a:ext cx="3868340" cy="436926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28" name="Retângulo 27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3" name="Text Placeholder 2"/>
          <p:cNvSpPr>
            <a:spLocks noGrp="1"/>
          </p:cNvSpPr>
          <p:nvPr>
            <p:ph type="body" idx="15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167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501113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8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5011137" y="1527998"/>
            <a:ext cx="3868340" cy="419353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527998"/>
            <a:ext cx="3868340" cy="436926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28" name="Retângulo 27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3" name="Text Placeholder 2"/>
          <p:cNvSpPr>
            <a:spLocks noGrp="1"/>
          </p:cNvSpPr>
          <p:nvPr>
            <p:ph type="body" idx="15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956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obje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6" y="498269"/>
            <a:ext cx="7895481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527998"/>
            <a:ext cx="3868340" cy="436926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6" hasCustomPrompt="1"/>
          </p:nvPr>
        </p:nvSpPr>
        <p:spPr>
          <a:xfrm>
            <a:off x="5011137" y="1527999"/>
            <a:ext cx="3878391" cy="4163266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da imagem</a:t>
            </a:r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364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ítulo + texto +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501113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527998"/>
            <a:ext cx="3868340" cy="436926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6" hasCustomPrompt="1"/>
          </p:nvPr>
        </p:nvSpPr>
        <p:spPr>
          <a:xfrm>
            <a:off x="5011137" y="1527999"/>
            <a:ext cx="3878391" cy="4163266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da imagem</a:t>
            </a:r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3379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+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501113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2777" y="1527999"/>
            <a:ext cx="3868340" cy="415821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6" hasCustomPrompt="1"/>
          </p:nvPr>
        </p:nvSpPr>
        <p:spPr>
          <a:xfrm>
            <a:off x="5011137" y="1527999"/>
            <a:ext cx="3878391" cy="4158211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2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da imagem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21"/>
          </p:nvPr>
        </p:nvSpPr>
        <p:spPr>
          <a:xfrm>
            <a:off x="992777" y="5777745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22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924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image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5011137" y="498270"/>
            <a:ext cx="3878391" cy="519299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479465"/>
            <a:ext cx="3868340" cy="4417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4" name="Text Placeholder 2"/>
          <p:cNvSpPr>
            <a:spLocks noGrp="1"/>
          </p:cNvSpPr>
          <p:nvPr>
            <p:ph type="body" idx="15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5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944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objet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479465"/>
            <a:ext cx="3868340" cy="4417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3" hasCustomPrompt="1"/>
          </p:nvPr>
        </p:nvSpPr>
        <p:spPr>
          <a:xfrm>
            <a:off x="5011137" y="498268"/>
            <a:ext cx="3878391" cy="5192997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da imagem</a:t>
            </a:r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039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2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479465"/>
            <a:ext cx="3868340" cy="4417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11137" y="498270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Text Placeholder 2"/>
          <p:cNvSpPr>
            <a:spLocks noGrp="1"/>
          </p:cNvSpPr>
          <p:nvPr>
            <p:ph type="body" idx="15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2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5011137" y="3140535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026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11137" y="498270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Text Placeholder 2"/>
          <p:cNvSpPr>
            <a:spLocks noGrp="1"/>
          </p:cNvSpPr>
          <p:nvPr>
            <p:ph type="body" idx="15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2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5011137" y="3140535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8"/>
          </p:nvPr>
        </p:nvSpPr>
        <p:spPr>
          <a:xfrm>
            <a:off x="992777" y="3140535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5" name="Picture Placeholder 2"/>
          <p:cNvSpPr>
            <a:spLocks noGrp="1" noChangeAspect="1"/>
          </p:cNvSpPr>
          <p:nvPr>
            <p:ph type="pic" idx="19"/>
          </p:nvPr>
        </p:nvSpPr>
        <p:spPr>
          <a:xfrm>
            <a:off x="992777" y="498270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863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+ imagem +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1479465"/>
            <a:ext cx="3868340" cy="4417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92777" y="498269"/>
            <a:ext cx="3868340" cy="823912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011136" y="3130237"/>
            <a:ext cx="3878391" cy="249195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27" name="Retângulo 2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2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5011137" y="498270"/>
            <a:ext cx="3878391" cy="247135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idx="17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4" name="Footer Placeholder 4"/>
          <p:cNvSpPr>
            <a:spLocks noGrp="1"/>
          </p:cNvSpPr>
          <p:nvPr>
            <p:ph type="ftr" sz="quarter" idx="18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467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5011137" y="498270"/>
            <a:ext cx="3878391" cy="519299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2777" y="498269"/>
            <a:ext cx="3868340" cy="539899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22" name="Retângulo 21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27" name="Text Placeholder 2"/>
          <p:cNvSpPr>
            <a:spLocks noGrp="1"/>
          </p:cNvSpPr>
          <p:nvPr>
            <p:ph type="body" idx="17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470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5011137" y="498268"/>
            <a:ext cx="3878391" cy="5192997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992777" y="498269"/>
            <a:ext cx="3868340" cy="539899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24" name="Retângulo 23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29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da imagem</a:t>
            </a:r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8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962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548802" y="0"/>
            <a:ext cx="8595197" cy="6866565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7" name="Retângulo 16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66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 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6" hasCustomPrompt="1"/>
          </p:nvPr>
        </p:nvSpPr>
        <p:spPr>
          <a:xfrm>
            <a:off x="548802" y="0"/>
            <a:ext cx="85951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16" name="Retângulo 1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opo + 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548802" y="0"/>
            <a:ext cx="8595198" cy="2162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992776" y="3408056"/>
            <a:ext cx="7896751" cy="2239664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992777" y="2446714"/>
            <a:ext cx="7896751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</a:t>
            </a:r>
          </a:p>
        </p:txBody>
      </p:sp>
      <p:sp>
        <p:nvSpPr>
          <p:cNvPr id="25" name="Retângulo 24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idx="18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585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op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0"/>
          </p:nvPr>
        </p:nvSpPr>
        <p:spPr>
          <a:xfrm>
            <a:off x="548802" y="0"/>
            <a:ext cx="8595198" cy="2162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992776" y="2447926"/>
            <a:ext cx="7896751" cy="310399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texto</a:t>
            </a:r>
          </a:p>
        </p:txBody>
      </p:sp>
      <p:sp>
        <p:nvSpPr>
          <p:cNvPr id="24" name="Retângulo 23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29" name="Text Placeholder 2"/>
          <p:cNvSpPr>
            <a:spLocks noGrp="1"/>
          </p:cNvSpPr>
          <p:nvPr>
            <p:ph type="body" idx="17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8636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2"/>
          </p:nvPr>
        </p:nvSpPr>
        <p:spPr>
          <a:xfrm>
            <a:off x="992776" y="1519761"/>
            <a:ext cx="7896751" cy="417150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4" name="Espaço Reservado para Texto 5"/>
          <p:cNvSpPr>
            <a:spLocks noGrp="1"/>
          </p:cNvSpPr>
          <p:nvPr>
            <p:ph type="body" idx="11"/>
          </p:nvPr>
        </p:nvSpPr>
        <p:spPr>
          <a:xfrm>
            <a:off x="992776" y="498269"/>
            <a:ext cx="7896751" cy="823912"/>
          </a:xfrm>
        </p:spPr>
        <p:txBody>
          <a:bodyPr anchor="ctr"/>
          <a:lstStyle>
            <a:lvl1pPr marL="0" indent="0">
              <a:buNone/>
              <a:defRPr b="1">
                <a:solidFill>
                  <a:srgbClr val="005388"/>
                </a:solidFill>
              </a:defRPr>
            </a:lvl1pPr>
          </a:lstStyle>
          <a:p>
            <a:pPr algn="l"/>
            <a:endParaRPr lang="pt-BR" dirty="0"/>
          </a:p>
        </p:txBody>
      </p:sp>
      <p:sp>
        <p:nvSpPr>
          <p:cNvPr id="25" name="Retângulo 24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idx="17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18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5916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992776" y="1519761"/>
            <a:ext cx="7896752" cy="4171504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en-US" dirty="0" smtClean="0"/>
              <a:t>um </a:t>
            </a:r>
            <a:r>
              <a:rPr lang="en-US" dirty="0" err="1" smtClean="0"/>
              <a:t>objeto</a:t>
            </a:r>
            <a:endParaRPr lang="pt-BR" dirty="0" smtClean="0"/>
          </a:p>
        </p:txBody>
      </p:sp>
      <p:sp>
        <p:nvSpPr>
          <p:cNvPr id="14" name="Espaço Reservado para Texto 5"/>
          <p:cNvSpPr>
            <a:spLocks noGrp="1"/>
          </p:cNvSpPr>
          <p:nvPr>
            <p:ph type="body" idx="11"/>
          </p:nvPr>
        </p:nvSpPr>
        <p:spPr>
          <a:xfrm>
            <a:off x="992776" y="498269"/>
            <a:ext cx="7896751" cy="823912"/>
          </a:xfrm>
        </p:spPr>
        <p:txBody>
          <a:bodyPr anchor="ctr"/>
          <a:lstStyle>
            <a:lvl1pPr marL="0" indent="0">
              <a:buNone/>
              <a:defRPr b="1">
                <a:solidFill>
                  <a:srgbClr val="005388"/>
                </a:solidFill>
              </a:defRPr>
            </a:lvl1pPr>
          </a:lstStyle>
          <a:p>
            <a:pPr algn="l"/>
            <a:endParaRPr lang="pt-BR" dirty="0"/>
          </a:p>
        </p:txBody>
      </p:sp>
      <p:sp>
        <p:nvSpPr>
          <p:cNvPr id="24" name="Retângulo 23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29" name="Text Placeholder 2"/>
          <p:cNvSpPr>
            <a:spLocks noGrp="1"/>
          </p:cNvSpPr>
          <p:nvPr>
            <p:ph type="body" idx="18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04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pequeno + imagem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95605" y="498268"/>
            <a:ext cx="2949178" cy="1559132"/>
          </a:xfrm>
        </p:spPr>
        <p:txBody>
          <a:bodyPr anchor="ctr">
            <a:normAutofit/>
          </a:bodyPr>
          <a:lstStyle>
            <a:lvl1pPr>
              <a:defRPr sz="2800" b="1">
                <a:solidFill>
                  <a:srgbClr val="005388"/>
                </a:solidFill>
                <a:latin typeface="+mn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995605" y="2281646"/>
            <a:ext cx="2949178" cy="36156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2"/>
          </p:nvPr>
        </p:nvSpPr>
        <p:spPr>
          <a:xfrm>
            <a:off x="4136570" y="0"/>
            <a:ext cx="5007429" cy="5691265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32" name="Retângulo 31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Imagem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6" name="Imagem 3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7" name="Text Placeholder 2"/>
          <p:cNvSpPr>
            <a:spLocks noGrp="1"/>
          </p:cNvSpPr>
          <p:nvPr>
            <p:ph type="body" idx="17"/>
          </p:nvPr>
        </p:nvSpPr>
        <p:spPr>
          <a:xfrm>
            <a:off x="5021188" y="5782801"/>
            <a:ext cx="3868340" cy="119518"/>
          </a:xfrm>
        </p:spPr>
        <p:txBody>
          <a:bodyPr anchor="ctr">
            <a:noAutofit/>
          </a:bodyPr>
          <a:lstStyle>
            <a:lvl1pPr marL="0" indent="0" algn="r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65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pequeno + imagem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939080" y="498268"/>
            <a:ext cx="2949178" cy="1559132"/>
          </a:xfrm>
        </p:spPr>
        <p:txBody>
          <a:bodyPr anchor="ctr">
            <a:normAutofit/>
          </a:bodyPr>
          <a:lstStyle>
            <a:lvl1pPr>
              <a:defRPr sz="2800" b="1">
                <a:solidFill>
                  <a:srgbClr val="005388"/>
                </a:solidFill>
                <a:latin typeface="+mn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9080" y="2281646"/>
            <a:ext cx="2949178" cy="36156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2"/>
          </p:nvPr>
        </p:nvSpPr>
        <p:spPr>
          <a:xfrm>
            <a:off x="992777" y="498269"/>
            <a:ext cx="4588872" cy="5195088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</a:t>
            </a:r>
          </a:p>
          <a:p>
            <a:r>
              <a:rPr lang="pt-BR" dirty="0" smtClean="0"/>
              <a:t>uma imagem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etângulo 25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1" name="Text Placeholder 2"/>
          <p:cNvSpPr>
            <a:spLocks noGrp="1"/>
          </p:cNvSpPr>
          <p:nvPr>
            <p:ph type="body" idx="17"/>
          </p:nvPr>
        </p:nvSpPr>
        <p:spPr>
          <a:xfrm>
            <a:off x="992777" y="5784891"/>
            <a:ext cx="3868340" cy="119518"/>
          </a:xfrm>
        </p:spPr>
        <p:txBody>
          <a:bodyPr anchor="ctr">
            <a:noAutofit/>
          </a:bodyPr>
          <a:lstStyle>
            <a:lvl1pPr marL="0" indent="0" algn="l">
              <a:buNone/>
              <a:defRPr sz="700"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99522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í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027" y="1954752"/>
            <a:ext cx="6064249" cy="35424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1909027" y="1206270"/>
            <a:ext cx="6064248" cy="5513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título do vídeo</a:t>
            </a:r>
          </a:p>
        </p:txBody>
      </p:sp>
      <p:sp>
        <p:nvSpPr>
          <p:cNvPr id="21" name="Espaço Reservado para Texto 2"/>
          <p:cNvSpPr>
            <a:spLocks noGrp="1"/>
          </p:cNvSpPr>
          <p:nvPr>
            <p:ph type="body" idx="15" hasCustomPrompt="1"/>
          </p:nvPr>
        </p:nvSpPr>
        <p:spPr>
          <a:xfrm>
            <a:off x="1909028" y="5662966"/>
            <a:ext cx="6064248" cy="169653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 smtClean="0"/>
              <a:t>Clique para editar o link do vídeo</a:t>
            </a:r>
          </a:p>
        </p:txBody>
      </p:sp>
      <p:sp>
        <p:nvSpPr>
          <p:cNvPr id="31" name="Retângulo 30"/>
          <p:cNvSpPr/>
          <p:nvPr userDrawn="1"/>
        </p:nvSpPr>
        <p:spPr>
          <a:xfrm>
            <a:off x="0" y="0"/>
            <a:ext cx="548803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 userDrawn="1"/>
        </p:nvSpPr>
        <p:spPr>
          <a:xfrm>
            <a:off x="0" y="6656173"/>
            <a:ext cx="9144000" cy="111211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 userDrawn="1"/>
        </p:nvSpPr>
        <p:spPr>
          <a:xfrm>
            <a:off x="3476" y="6589859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86567" y="900198"/>
            <a:ext cx="1321936" cy="221767"/>
          </a:xfrm>
          <a:prstGeom prst="rect">
            <a:avLst/>
          </a:prstGeom>
        </p:spPr>
      </p:pic>
      <p:pic>
        <p:nvPicPr>
          <p:cNvPr id="35" name="Imagem 3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13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</p:spPr>
      </p:pic>
      <p:sp>
        <p:nvSpPr>
          <p:cNvPr id="36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1909027" y="496389"/>
            <a:ext cx="6064248" cy="544149"/>
          </a:xfrm>
        </p:spPr>
        <p:txBody>
          <a:bodyPr anchor="ctr"/>
          <a:lstStyle>
            <a:lvl1pPr marL="0" indent="0" algn="ctr">
              <a:buNone/>
              <a:defRPr sz="2400" b="1" baseline="0">
                <a:solidFill>
                  <a:srgbClr val="005388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 smtClean="0"/>
              <a:t>Clique para editar o número do vídeo</a:t>
            </a: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18"/>
          </p:nvPr>
        </p:nvSpPr>
        <p:spPr>
          <a:xfrm>
            <a:off x="992778" y="6133199"/>
            <a:ext cx="7895480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pt-BR" smtClean="0"/>
              <a:t>Clique para editar o título da disciplina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0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>
            <a:solidFill>
              <a:srgbClr val="0053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109" y="3189933"/>
            <a:ext cx="2735813" cy="458958"/>
          </a:xfrm>
          <a:prstGeom prst="rect">
            <a:avLst/>
          </a:prstGeom>
        </p:spPr>
      </p:pic>
      <p:grpSp>
        <p:nvGrpSpPr>
          <p:cNvPr id="27" name="Agrupar 26"/>
          <p:cNvGrpSpPr/>
          <p:nvPr userDrawn="1"/>
        </p:nvGrpSpPr>
        <p:grpSpPr>
          <a:xfrm>
            <a:off x="205210" y="568735"/>
            <a:ext cx="393834" cy="5386075"/>
            <a:chOff x="205210" y="568735"/>
            <a:chExt cx="393834" cy="5386075"/>
          </a:xfrm>
        </p:grpSpPr>
        <p:pic>
          <p:nvPicPr>
            <p:cNvPr id="28" name="Imagem 2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13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</p:spPr>
        </p:pic>
        <p:pic>
          <p:nvPicPr>
            <p:cNvPr id="29" name="Imagem 28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13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</p:spPr>
        </p:pic>
      </p:grpSp>
      <p:grpSp>
        <p:nvGrpSpPr>
          <p:cNvPr id="30" name="Agrupar 29"/>
          <p:cNvGrpSpPr/>
          <p:nvPr userDrawn="1"/>
        </p:nvGrpSpPr>
        <p:grpSpPr>
          <a:xfrm>
            <a:off x="8554987" y="726374"/>
            <a:ext cx="393834" cy="5386075"/>
            <a:chOff x="205210" y="568735"/>
            <a:chExt cx="393834" cy="5386075"/>
          </a:xfrm>
        </p:grpSpPr>
        <p:pic>
          <p:nvPicPr>
            <p:cNvPr id="31" name="Imagem 30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13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</p:spPr>
        </p:pic>
        <p:pic>
          <p:nvPicPr>
            <p:cNvPr id="32" name="Imagem 31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913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2160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smtClean="0"/>
              <a:t>Clique para editar o título da disciplina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3A1F5-6CB0-49BA-ABCC-F2C05E7CE5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26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89" r:id="rId5"/>
    <p:sldLayoutId id="2147483692" r:id="rId6"/>
    <p:sldLayoutId id="2147483665" r:id="rId7"/>
    <p:sldLayoutId id="2147483693" r:id="rId8"/>
    <p:sldLayoutId id="2147483690" r:id="rId9"/>
    <p:sldLayoutId id="2147483666" r:id="rId10"/>
    <p:sldLayoutId id="2147483691" r:id="rId11"/>
    <p:sldLayoutId id="2147483686" r:id="rId12"/>
    <p:sldLayoutId id="2147483675" r:id="rId13"/>
    <p:sldLayoutId id="2147483668" r:id="rId14"/>
    <p:sldLayoutId id="2147483685" r:id="rId15"/>
    <p:sldLayoutId id="2147483684" r:id="rId16"/>
    <p:sldLayoutId id="2147483694" r:id="rId17"/>
    <p:sldLayoutId id="2147483687" r:id="rId18"/>
    <p:sldLayoutId id="2147483667" r:id="rId19"/>
    <p:sldLayoutId id="2147483670" r:id="rId20"/>
    <p:sldLayoutId id="2147483669" r:id="rId21"/>
    <p:sldLayoutId id="2147483676" r:id="rId22"/>
    <p:sldLayoutId id="2147483678" r:id="rId23"/>
    <p:sldLayoutId id="2147483677" r:id="rId24"/>
    <p:sldLayoutId id="2147483671" r:id="rId25"/>
    <p:sldLayoutId id="2147483688" r:id="rId26"/>
    <p:sldLayoutId id="2147483672" r:id="rId27"/>
    <p:sldLayoutId id="2147483679" r:id="rId28"/>
    <p:sldLayoutId id="2147483673" r:id="rId29"/>
    <p:sldLayoutId id="2147483674" r:id="rId3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cnpq.br/iniciacao-cientifica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ixabay.com/pt/vectors/ci%C3%AAncia-texto-escola-educa%C3%A7%C3%A3o-2943375/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pixabay.com/pt/photos/laptop-computador-navegador-2562325/" TargetMode="Externa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/>
          <a:stretch/>
        </p:blipFill>
        <p:spPr>
          <a:xfrm>
            <a:off x="-34834" y="0"/>
            <a:ext cx="8989985" cy="6857999"/>
          </a:xfrm>
          <a:prstGeom prst="rect">
            <a:avLst/>
          </a:prstGeom>
        </p:spPr>
      </p:pic>
      <p:sp>
        <p:nvSpPr>
          <p:cNvPr id="24" name="Título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importância da pesquisa científica</a:t>
            </a:r>
            <a:endParaRPr lang="pt-BR" dirty="0"/>
          </a:p>
        </p:txBody>
      </p:sp>
      <p:pic>
        <p:nvPicPr>
          <p:cNvPr id="2050" name="Picture 2" descr="Análise, Bioquímica, Biólogo, Biologia, Biotecnologia"/>
          <p:cNvPicPr>
            <a:picLocks noGrp="1" noChangeAspect="1" noChangeArrowheads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1" r="298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59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0" dirty="0"/>
              <a:t>O primeiro dever da inteligência é desconfiar dela mesma.</a:t>
            </a:r>
            <a:br>
              <a:rPr lang="pt-BR" b="0" dirty="0"/>
            </a:b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idx="1"/>
          </p:nvPr>
        </p:nvSpPr>
        <p:spPr>
          <a:xfrm>
            <a:off x="2172601" y="4749306"/>
            <a:ext cx="3890448" cy="703735"/>
          </a:xfrm>
        </p:spPr>
        <p:txBody>
          <a:bodyPr>
            <a:normAutofit fontScale="25000" lnSpcReduction="20000"/>
          </a:bodyPr>
          <a:lstStyle/>
          <a:p>
            <a:r>
              <a:rPr lang="pt-BR" sz="6000" dirty="0"/>
              <a:t>Albert Einstein</a:t>
            </a:r>
            <a:br>
              <a:rPr lang="pt-BR" sz="6000" dirty="0"/>
            </a:br>
            <a:r>
              <a:rPr lang="pt-BR" sz="6000" dirty="0"/>
              <a:t/>
            </a:r>
            <a:br>
              <a:rPr lang="pt-BR" sz="6000" dirty="0"/>
            </a:br>
            <a:r>
              <a:rPr lang="pt-BR" sz="5800" dirty="0"/>
              <a:t/>
            </a:r>
            <a:br>
              <a:rPr lang="pt-BR" sz="5800" dirty="0"/>
            </a:br>
            <a:endParaRPr lang="pt-BR" sz="5800" dirty="0"/>
          </a:p>
        </p:txBody>
      </p:sp>
    </p:spTree>
    <p:extLst>
      <p:ext uri="{BB962C8B-B14F-4D97-AF65-F5344CB8AC3E}">
        <p14:creationId xmlns:p14="http://schemas.microsoft.com/office/powerpoint/2010/main" val="129858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Algumas perguntas para reflexão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Você sabe o que é pesquisa? </a:t>
            </a:r>
          </a:p>
          <a:p>
            <a:r>
              <a:rPr lang="pt-BR" dirty="0" smtClean="0"/>
              <a:t>A pesquisa científica é diferente da pesquisa que você faz para suas disciplinas acadêmicas? </a:t>
            </a:r>
          </a:p>
          <a:p>
            <a:r>
              <a:rPr lang="pt-BR" dirty="0" smtClean="0"/>
              <a:t>O que torna uma pesquisa científica? </a:t>
            </a:r>
          </a:p>
          <a:p>
            <a:r>
              <a:rPr lang="pt-BR" dirty="0" smtClean="0"/>
              <a:t>Por que fazer pesquisa na universidade? </a:t>
            </a:r>
          </a:p>
          <a:p>
            <a:r>
              <a:rPr lang="pt-BR" dirty="0"/>
              <a:t>Quais as responsabilidades de um pesquisador?  </a:t>
            </a:r>
          </a:p>
          <a:p>
            <a:r>
              <a:rPr lang="pt-BR" dirty="0" smtClean="0"/>
              <a:t>Você sabe o que é iniciação científica? </a:t>
            </a:r>
          </a:p>
        </p:txBody>
      </p:sp>
    </p:spTree>
    <p:extLst>
      <p:ext uri="{BB962C8B-B14F-4D97-AF65-F5344CB8AC3E}">
        <p14:creationId xmlns:p14="http://schemas.microsoft.com/office/powerpoint/2010/main" val="15693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Pesquisa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pt-BR" dirty="0" smtClean="0"/>
              <a:t>Ato ou efeito de pesquisar. 2. investigação e estudo, minuciosos e sistemáticos, com fim de descobrir fatos relativos a um campo do conhecimento.  </a:t>
            </a:r>
          </a:p>
          <a:p>
            <a:endParaRPr lang="pt-BR" dirty="0" smtClean="0"/>
          </a:p>
          <a:p>
            <a:r>
              <a:rPr lang="pt-BR" dirty="0" smtClean="0"/>
              <a:t>Pesquisar </a:t>
            </a:r>
          </a:p>
          <a:p>
            <a:pPr marL="457200" indent="-457200">
              <a:buAutoNum type="arabicPeriod"/>
            </a:pPr>
            <a:r>
              <a:rPr lang="pt-BR" dirty="0" smtClean="0"/>
              <a:t>Procurar com aplicação, com diligência. 2. Tomar informações a respeito de.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63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1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 smtClean="0"/>
          </a:p>
          <a:p>
            <a:r>
              <a:rPr lang="pt-BR" dirty="0" smtClean="0"/>
              <a:t>Pesquisa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 smtClean="0"/>
          </a:p>
          <a:p>
            <a:endParaRPr lang="pt-BR" b="1" dirty="0"/>
          </a:p>
          <a:p>
            <a:r>
              <a:rPr lang="pt-BR" b="1" dirty="0" smtClean="0"/>
              <a:t>Pesquisa</a:t>
            </a:r>
            <a:r>
              <a:rPr lang="pt-BR" b="1" dirty="0"/>
              <a:t> </a:t>
            </a:r>
            <a:r>
              <a:rPr lang="pt-BR" dirty="0"/>
              <a:t>é um conjunto de ações que visa a </a:t>
            </a:r>
            <a:r>
              <a:rPr lang="pt-BR" b="1" dirty="0"/>
              <a:t>descoberta de novos conhecimentos</a:t>
            </a:r>
            <a:r>
              <a:rPr lang="pt-BR" dirty="0"/>
              <a:t> em uma determinada área.</a:t>
            </a:r>
          </a:p>
          <a:p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pt-BR" dirty="0"/>
              <a:t>https://pixabay.com/pt/vectors/copos-de-vidro-experi%C3%AAncia-bal%C3%B5es-309864/</a:t>
            </a:r>
          </a:p>
        </p:txBody>
      </p:sp>
      <p:pic>
        <p:nvPicPr>
          <p:cNvPr id="8" name="Espaço Reservado para Imagem 7" descr="Copos De Vidro, Experiência, Balões, Pesquisa, Química"/>
          <p:cNvPicPr>
            <a:picLocks noGrp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" r="1383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179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t-BR" dirty="0" smtClean="0"/>
              <a:t>Pesquisa científica</a:t>
            </a:r>
            <a:endParaRPr lang="pt-BR" dirty="0"/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6"/>
            <p:extLst>
              <p:ext uri="{D42A27DB-BD31-4B8C-83A1-F6EECF244321}">
                <p14:modId xmlns:p14="http://schemas.microsoft.com/office/powerpoint/2010/main" val="3866936157"/>
              </p:ext>
            </p:extLst>
          </p:nvPr>
        </p:nvGraphicFramePr>
        <p:xfrm>
          <a:off x="1424354" y="1322181"/>
          <a:ext cx="6919546" cy="4369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834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Pesquisa científica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 </a:t>
            </a:r>
            <a:r>
              <a:rPr lang="pt-BR" b="1" dirty="0"/>
              <a:t>pesquisa científica</a:t>
            </a:r>
            <a:r>
              <a:rPr lang="pt-BR" dirty="0"/>
              <a:t> consiste em um processo metódico de investigação, recorrendo a procedimentos científicos para encontrar respostas para um problema. Para </a:t>
            </a:r>
            <a:r>
              <a:rPr lang="pt-BR" dirty="0" smtClean="0"/>
              <a:t>essa </a:t>
            </a:r>
            <a:r>
              <a:rPr lang="pt-BR" dirty="0"/>
              <a:t>pesquisa, é obrigatório avaliar se o problema apresenta interesse para a comunidade científica e se constitui um trabalho que irá produzir resultados novos e relevantes para o interesse social.</a:t>
            </a:r>
          </a:p>
        </p:txBody>
      </p:sp>
    </p:spTree>
    <p:extLst>
      <p:ext uri="{BB962C8B-B14F-4D97-AF65-F5344CB8AC3E}">
        <p14:creationId xmlns:p14="http://schemas.microsoft.com/office/powerpoint/2010/main" val="886045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Pesquisa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pesquisa é: </a:t>
            </a:r>
          </a:p>
          <a:p>
            <a:r>
              <a:rPr lang="pt-BR" dirty="0" smtClean="0"/>
              <a:t>É </a:t>
            </a:r>
            <a:r>
              <a:rPr lang="pt-BR" dirty="0"/>
              <a:t>um lugar - mas não só ela - privilegiado para conhecer a </a:t>
            </a:r>
            <a:r>
              <a:rPr lang="pt-BR" u="sng" dirty="0"/>
              <a:t>cultura universal e as várias ciências</a:t>
            </a:r>
            <a:r>
              <a:rPr lang="pt-BR" dirty="0"/>
              <a:t>, para criar e divulgar o saber, mas deve buscar uma identidade própria e uma adequação à realidade nacional. (WANDERLEY, 1998, p.15)</a:t>
            </a:r>
          </a:p>
        </p:txBody>
      </p:sp>
    </p:spTree>
    <p:extLst>
      <p:ext uri="{BB962C8B-B14F-4D97-AF65-F5344CB8AC3E}">
        <p14:creationId xmlns:p14="http://schemas.microsoft.com/office/powerpoint/2010/main" val="114218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Pesquisa científica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Quanto à abordagem do problema, a metodologia da pesquisa pode ser:</a:t>
            </a:r>
          </a:p>
          <a:p>
            <a:r>
              <a:rPr lang="pt-BR" b="1" dirty="0"/>
              <a:t>Quantitativa</a:t>
            </a:r>
            <a:r>
              <a:rPr lang="pt-BR" dirty="0"/>
              <a:t>: método de pesquisa que recorre a diferentes técnicas </a:t>
            </a:r>
            <a:r>
              <a:rPr lang="pt-BR" u="sng" dirty="0"/>
              <a:t>estatísticas</a:t>
            </a:r>
            <a:r>
              <a:rPr lang="pt-BR" dirty="0"/>
              <a:t> para </a:t>
            </a:r>
            <a:r>
              <a:rPr lang="pt-BR" u="sng" dirty="0"/>
              <a:t>quantificar</a:t>
            </a:r>
            <a:r>
              <a:rPr lang="pt-BR" dirty="0"/>
              <a:t> opiniões e informações.</a:t>
            </a:r>
          </a:p>
          <a:p>
            <a:r>
              <a:rPr lang="pt-BR" b="1" dirty="0"/>
              <a:t>Qualitativa</a:t>
            </a:r>
            <a:r>
              <a:rPr lang="pt-BR" dirty="0"/>
              <a:t>: é uma pesquisa descritiva que explora as particularidades e os traços </a:t>
            </a:r>
            <a:r>
              <a:rPr lang="pt-BR" u="sng" dirty="0"/>
              <a:t>subjetivos</a:t>
            </a:r>
            <a:r>
              <a:rPr lang="pt-BR" dirty="0"/>
              <a:t> considerando a experiência pessoal do entrevistado.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1208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Pesquisa científica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Quanto aos objetivos pretendidos, a pesquisa se classifica em:</a:t>
            </a:r>
          </a:p>
          <a:p>
            <a:r>
              <a:rPr lang="pt-BR" b="1" dirty="0"/>
              <a:t>Exploratória</a:t>
            </a:r>
            <a:r>
              <a:rPr lang="pt-BR" dirty="0"/>
              <a:t>: envolve uma maior proximidade com tudo o que está relacionado com o objeto de pesquisa. </a:t>
            </a:r>
            <a:endParaRPr lang="pt-BR" dirty="0" smtClean="0"/>
          </a:p>
          <a:p>
            <a:r>
              <a:rPr lang="pt-BR" b="1" dirty="0" smtClean="0"/>
              <a:t>Descritiva</a:t>
            </a:r>
            <a:r>
              <a:rPr lang="pt-BR" dirty="0"/>
              <a:t>: levantamento de dados recorrendo a técnicas padronizadas de coleta, como o questionário ou a observação sistemática.</a:t>
            </a:r>
          </a:p>
          <a:p>
            <a:r>
              <a:rPr lang="pt-BR" b="1" dirty="0"/>
              <a:t>Explicativa</a:t>
            </a:r>
            <a:r>
              <a:rPr lang="pt-BR" dirty="0"/>
              <a:t>: procura explicar os fatores que ocasionam os fenômenos. Nas ciências naturais é usado o método experimental, enquanto nas ciências sociais recorre-se ao método observacional.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68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1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 smtClean="0"/>
          </a:p>
          <a:p>
            <a:r>
              <a:rPr lang="pt-BR" dirty="0" smtClean="0"/>
              <a:t>Pesquisa </a:t>
            </a:r>
            <a:r>
              <a:rPr lang="pt-BR" dirty="0"/>
              <a:t>científica</a:t>
            </a:r>
          </a:p>
          <a:p>
            <a:endParaRPr lang="pt-BR" dirty="0"/>
          </a:p>
        </p:txBody>
      </p:sp>
      <p:pic>
        <p:nvPicPr>
          <p:cNvPr id="7" name="Espaço Reservado para Imagem 6"/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4" r="19254"/>
          <a:stretch>
            <a:fillRect/>
          </a:stretch>
        </p:blipFill>
        <p:spPr/>
      </p:pic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Fazer pesquisa científica é defender uma ideia e apresentá-la à sociedade, portanto, para esse processo é preciso: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dirty="0"/>
              <a:t>bibliografias e dados extraídos do mundo </a:t>
            </a:r>
            <a:r>
              <a:rPr lang="pt-BR" dirty="0" smtClean="0"/>
              <a:t>real</a:t>
            </a:r>
            <a:r>
              <a:rPr lang="pt-BR" dirty="0"/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dirty="0"/>
              <a:t>Fazer consultas utilizando </a:t>
            </a:r>
            <a:r>
              <a:rPr lang="pt-BR" dirty="0" smtClean="0"/>
              <a:t>questionários</a:t>
            </a:r>
            <a:r>
              <a:rPr lang="pt-BR" dirty="0"/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dirty="0"/>
              <a:t>Fazer análises, deduções, implicações, </a:t>
            </a:r>
            <a:r>
              <a:rPr lang="pt-BR" dirty="0" smtClean="0"/>
              <a:t>comprovações; </a:t>
            </a:r>
            <a:endParaRPr lang="pt-BR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dirty="0"/>
              <a:t>Apresentar gráficos com as análises e interpretações dos resultados obtidos com a </a:t>
            </a:r>
            <a:r>
              <a:rPr lang="pt-BR" dirty="0" smtClean="0"/>
              <a:t>pesquisa</a:t>
            </a:r>
            <a:r>
              <a:rPr lang="pt-BR" dirty="0"/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dirty="0"/>
              <a:t>Divulgação da pesquisa para a comunidade científica. </a:t>
            </a:r>
          </a:p>
          <a:p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pt-BR" dirty="0"/>
              <a:t>https://pixabay.com/pt/photos/neg%C3%B3cios-gr%C3%A1ficos-computador-1836990/</a:t>
            </a:r>
          </a:p>
        </p:txBody>
      </p:sp>
    </p:spTree>
    <p:extLst>
      <p:ext uri="{BB962C8B-B14F-4D97-AF65-F5344CB8AC3E}">
        <p14:creationId xmlns:p14="http://schemas.microsoft.com/office/powerpoint/2010/main" val="355763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Iniciação científica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 smtClean="0"/>
              <a:t>É </a:t>
            </a:r>
            <a:r>
              <a:rPr lang="pt-BR" dirty="0"/>
              <a:t>preciso que desde os primeiros anos da educação formal os(as) estudantes sejam postos em contato com a cultura científica, ou seja, com a maneira científica de produzir conhecimento e com as principais atividades humanas que têm moldado o meio ambiente e a vida humana ao longo da história</a:t>
            </a:r>
            <a:r>
              <a:rPr lang="pt-BR" dirty="0" smtClean="0"/>
              <a:t>.</a:t>
            </a:r>
          </a:p>
          <a:p>
            <a:r>
              <a:rPr lang="pt-BR" dirty="0" smtClean="0"/>
              <a:t>Disponível em: &lt;</a:t>
            </a:r>
            <a:r>
              <a:rPr lang="pt-BR" dirty="0" smtClean="0">
                <a:hlinkClick r:id="rId2"/>
              </a:rPr>
              <a:t>http</a:t>
            </a:r>
            <a:r>
              <a:rPr lang="pt-BR" dirty="0">
                <a:hlinkClick r:id="rId2"/>
              </a:rPr>
              <a:t>://</a:t>
            </a:r>
            <a:r>
              <a:rPr lang="pt-BR" dirty="0" smtClean="0">
                <a:hlinkClick r:id="rId2"/>
              </a:rPr>
              <a:t>cnpq.br/iniciacao-cientifica</a:t>
            </a:r>
            <a:r>
              <a:rPr lang="pt-BR" dirty="0" smtClean="0"/>
              <a:t>&gt;. Acesso em: 08 dez 2019.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799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t-BR" dirty="0" smtClean="0"/>
              <a:t>Iniciação científica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600" dirty="0" smtClean="0"/>
              <a:t>Universidade e iniciação científica</a:t>
            </a:r>
            <a:endParaRPr lang="pt-BR" sz="36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pt-BR">
                <a:hlinkClick r:id="rId2"/>
              </a:rPr>
              <a:t>https://pixabay.com/pt/vectors/ci%C3%AAncia-texto-escola-educa%C3%A7%C3%A3o-2943375/</a:t>
            </a:r>
            <a:endParaRPr lang="pt-BR" dirty="0"/>
          </a:p>
        </p:txBody>
      </p:sp>
      <p:pic>
        <p:nvPicPr>
          <p:cNvPr id="1026" name="Picture 2" descr="Ciência, Texto, Escola, Educação, Conhecimento, Estudo"/>
          <p:cNvPicPr>
            <a:picLocks noGrp="1" noChangeAspect="1" noChangeArrowheads="1"/>
          </p:cNvPicPr>
          <p:nvPr>
            <p:ph type="pic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5" r="1848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886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>
            <a:normAutofit lnSpcReduction="10000"/>
          </a:bodyPr>
          <a:lstStyle/>
          <a:p>
            <a:endParaRPr lang="pt-BR" dirty="0" smtClean="0"/>
          </a:p>
          <a:p>
            <a:r>
              <a:rPr lang="pt-BR" dirty="0" smtClean="0"/>
              <a:t>Você </a:t>
            </a:r>
            <a:r>
              <a:rPr lang="pt-BR" dirty="0"/>
              <a:t>sabia que...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 pesquisa permite a busca e o encontro do desconhecido, sendo possível contribuir com o assunto que está sendo pesquisado. Esse processo permite descobertas que podem auxiliar a sociedade. 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215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Você sabia que...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pesquisa, além de ser uma via para a construção de conhecimento  e informações, é  base para o progresso humano no mundo científico, tecnológico e cultural. Os Estados Unidos investem em pesquisa e desenvolvimento 2,7% de seu PIB, o Japão  - 3,1%, o Brasil, 1,09%.</a:t>
            </a:r>
          </a:p>
        </p:txBody>
      </p:sp>
    </p:spTree>
    <p:extLst>
      <p:ext uri="{BB962C8B-B14F-4D97-AF65-F5344CB8AC3E}">
        <p14:creationId xmlns:p14="http://schemas.microsoft.com/office/powerpoint/2010/main" val="84726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Atribuições de um pesquisador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 smtClean="0"/>
              <a:t>Comprometimento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 smtClean="0"/>
              <a:t>Dedicação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 smtClean="0"/>
              <a:t>Organização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 smtClean="0"/>
              <a:t>Autonomia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dirty="0" smtClean="0"/>
              <a:t>Responsabilidade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https://pixabay.com/pt/photos/laptop-computador-navegador-2562325/</a:t>
            </a:r>
            <a:endParaRPr lang="pt-BR" dirty="0"/>
          </a:p>
        </p:txBody>
      </p:sp>
      <p:pic>
        <p:nvPicPr>
          <p:cNvPr id="9" name="Espaço Reservado para Imagem 8" descr="Laptop, Computador, Navegador, Pesquisa, Estudo, Escola"/>
          <p:cNvPicPr>
            <a:picLocks noGrp="1"/>
          </p:cNvPicPr>
          <p:nvPr>
            <p:ph type="pic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0" r="20720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9786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Hoje </a:t>
            </a:r>
            <a:r>
              <a:rPr lang="pt-BR" dirty="0"/>
              <a:t>em dia a humanidade leva apenas dezoito minutos para dobrar o conhecimento acumulado. </a:t>
            </a:r>
            <a:r>
              <a:rPr lang="pt-BR" dirty="0" smtClean="0"/>
              <a:t>Na </a:t>
            </a:r>
            <a:r>
              <a:rPr lang="pt-BR" dirty="0"/>
              <a:t>primeira vez que isso ocorreu, foram necessários seiscentos anos de pesquisa. Assim, muito em breve, uma descoberta realizada no café da manhã já será obsoleta na hora do </a:t>
            </a:r>
            <a:r>
              <a:rPr lang="pt-BR" dirty="0" smtClean="0"/>
              <a:t>almoço. (HEBLING</a:t>
            </a:r>
            <a:r>
              <a:rPr lang="pt-BR" dirty="0"/>
              <a:t>, 2006, p.04</a:t>
            </a:r>
            <a:r>
              <a:rPr lang="pt-BR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699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1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3938</TotalTime>
  <Words>571</Words>
  <Application>Microsoft Office PowerPoint</Application>
  <PresentationFormat>Apresentação na tela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Tema do Office</vt:lpstr>
      <vt:lpstr>A importância da pesquisa científica</vt:lpstr>
      <vt:lpstr>O primeiro dever da inteligência é desconfiar dela mesma.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Atribuições de um pesquisador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Diogo Ribeiro Garcia</dc:creator>
  <cp:lastModifiedBy>Priscilla Campiolo Manesco Paixão</cp:lastModifiedBy>
  <cp:revision>85</cp:revision>
  <dcterms:created xsi:type="dcterms:W3CDTF">2019-02-06T19:28:48Z</dcterms:created>
  <dcterms:modified xsi:type="dcterms:W3CDTF">2020-03-04T18:28:02Z</dcterms:modified>
</cp:coreProperties>
</file>