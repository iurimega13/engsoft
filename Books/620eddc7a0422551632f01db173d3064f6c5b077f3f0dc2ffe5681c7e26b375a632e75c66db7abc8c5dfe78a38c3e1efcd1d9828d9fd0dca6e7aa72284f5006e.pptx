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D3D3DCA0-9CAF-4C69-B225-D5DFA49E00AF}">
  <a:tblStyle styleId="{D3D3DCA0-9CAF-4C69-B225-D5DFA49E00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c45c1719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6c45c17193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c45c1719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6c45c17193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6c76cb8400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6c76cb840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6c76cb840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6c76cb8400_0_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6c76cb840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6c76cb840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6c76cb8400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6c76cb8400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6c76cb840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6c76cb8400_0_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6c76cb8400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6c76cb8400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c76cb8400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6c76cb840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6c76cb8400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c45c1719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6c45c17193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c45c1719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0" name="Google Shape;180;g6c45c17193_0_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6c45f7df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6c45f7df24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6c45f7df2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6c45f7df24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c45f7df24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6c45f7df24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6c45f7df2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6c45f7df24_0_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c45f7df24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6c45f7df24_0_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6c45f7df24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g6c45f7df24_0_1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6c76cb840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8" name="Google Shape;258;g6c76cb8400_0_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c45f7df24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6c45f7df24_0_7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6c45f7df24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6c45f7df24_0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c45f7df24_0_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c45f7df24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6c45f7df24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6c76cb8400_0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6c76cb8400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6c76cb8400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6c76cb840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7" name="Google Shape;307;g6c76cb8400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c76cb8400_1_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c76cb8400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6c76cb8400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6c45f7df24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6c45f7df24_0_1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6c45f7df24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6c45f7df24_0_1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6c45f7df24_0_1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6c45f7df24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6c45f7df24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c45f7df24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5" name="Google Shape;355;g6c45f7df24_0_1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6c76cb8400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61" name="Google Shape;361;g6c76cb8400_0_7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6c45f7df24_0_1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6c45f7df24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6c45f7df24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6c76cb8400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6c76cb8400_0_1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6c76cb8400_0_40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6c76cb8400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6c76cb8400_0_4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6c76cb8400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6c76cb8400_0_2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c76cb8400_0_17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c76cb8400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6c76cb8400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6c76cb8400_0_19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6c76cb8400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6c76cb8400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6c76cb8400_0_2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6c76cb8400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6c76cb8400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6c76cb8400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6c76cb8400_0_10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6c76cb8400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6c76cb8400_0_2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>
  <p:cSld name="Capa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8650" y="1609039"/>
            <a:ext cx="48165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/>
          <p:nvPr>
            <p:ph idx="2" type="pic"/>
          </p:nvPr>
        </p:nvSpPr>
        <p:spPr>
          <a:xfrm>
            <a:off x="5000625" y="1"/>
            <a:ext cx="4143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bertura">
  <p:cSld name="Abertura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>
            <p:ph idx="2" type="pic"/>
          </p:nvPr>
        </p:nvSpPr>
        <p:spPr>
          <a:xfrm>
            <a:off x="0" y="0"/>
            <a:ext cx="91440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4181294"/>
            <a:ext cx="9152400" cy="1413000"/>
          </a:xfrm>
          <a:prstGeom prst="rect">
            <a:avLst/>
          </a:prstGeom>
          <a:solidFill>
            <a:srgbClr val="005388"/>
          </a:solidFill>
          <a:ln cap="flat" cmpd="sng" w="9525">
            <a:solidFill>
              <a:srgbClr val="0053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-1" y="5943489"/>
            <a:ext cx="915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itação">
  <p:cSld name="Citaçã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7286" y="700193"/>
            <a:ext cx="7669427" cy="547408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2172601" y="1896569"/>
            <a:ext cx="50109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  <a:defRPr b="1" sz="5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2172601" y="5181600"/>
            <a:ext cx="38904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1400"/>
              <a:buNone/>
              <a:defRPr sz="1400">
                <a:solidFill>
                  <a:srgbClr val="D8D8D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bjetivos">
  <p:cSld name="Objetivo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992777" y="2209800"/>
            <a:ext cx="78969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992777" y="498269"/>
            <a:ext cx="7896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800"/>
              <a:buNone/>
              <a:defRPr b="1" sz="28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6"/>
          <p:cNvSpPr/>
          <p:nvPr/>
        </p:nvSpPr>
        <p:spPr>
          <a:xfrm>
            <a:off x="0" y="6656173"/>
            <a:ext cx="9144000" cy="1113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476" y="6589859"/>
            <a:ext cx="9144000" cy="4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386567" y="900198"/>
            <a:ext cx="1321936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84912" t="0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992777" y="1042839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400"/>
              <a:buNone/>
              <a:defRPr b="0" sz="24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echamento">
  <p:cSld name="Fechamento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09109" y="3189933"/>
            <a:ext cx="2735813" cy="458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17"/>
          <p:cNvGrpSpPr/>
          <p:nvPr/>
        </p:nvGrpSpPr>
        <p:grpSpPr>
          <a:xfrm>
            <a:off x="205210" y="568735"/>
            <a:ext cx="393834" cy="5386075"/>
            <a:chOff x="205210" y="568735"/>
            <a:chExt cx="393834" cy="5386075"/>
          </a:xfrm>
        </p:grpSpPr>
        <p:pic>
          <p:nvPicPr>
            <p:cNvPr id="79" name="Google Shape;79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17"/>
          <p:cNvGrpSpPr/>
          <p:nvPr/>
        </p:nvGrpSpPr>
        <p:grpSpPr>
          <a:xfrm>
            <a:off x="8554987" y="726374"/>
            <a:ext cx="393834" cy="5386075"/>
            <a:chOff x="205210" y="568735"/>
            <a:chExt cx="393834" cy="5386075"/>
          </a:xfrm>
        </p:grpSpPr>
        <p:pic>
          <p:nvPicPr>
            <p:cNvPr id="82" name="Google Shape;82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3344416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7"/>
            <p:cNvPicPr preferRelativeResize="0"/>
            <p:nvPr/>
          </p:nvPicPr>
          <p:blipFill rotWithShape="1">
            <a:blip r:embed="rId3">
              <a:alphaModFix/>
            </a:blip>
            <a:srcRect b="0" l="0" r="84912" t="0"/>
            <a:stretch/>
          </p:blipFill>
          <p:spPr>
            <a:xfrm>
              <a:off x="205210" y="568735"/>
              <a:ext cx="393834" cy="26103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+ texto + imagem2">
  <p:cSld name="Título + texto + imagem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>
            <p:ph idx="2" type="pic"/>
          </p:nvPr>
        </p:nvSpPr>
        <p:spPr>
          <a:xfrm>
            <a:off x="5011137" y="498270"/>
            <a:ext cx="3878400" cy="51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992777" y="1479465"/>
            <a:ext cx="3868200" cy="44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992777" y="498269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5388"/>
              </a:buClr>
              <a:buSzPts val="2800"/>
              <a:buNone/>
              <a:defRPr b="1" sz="2800">
                <a:solidFill>
                  <a:srgbClr val="0053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8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0" y="6656173"/>
            <a:ext cx="9144000" cy="111300"/>
          </a:xfrm>
          <a:prstGeom prst="rect">
            <a:avLst/>
          </a:prstGeom>
          <a:solidFill>
            <a:srgbClr val="005388"/>
          </a:solidFill>
          <a:ln cap="flat" cmpd="sng" w="12700">
            <a:solidFill>
              <a:srgbClr val="00538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476" y="6589859"/>
            <a:ext cx="9144000" cy="4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386567" y="900198"/>
            <a:ext cx="1321936" cy="22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84912" t="0"/>
          <a:stretch/>
        </p:blipFill>
        <p:spPr>
          <a:xfrm>
            <a:off x="111263" y="3848570"/>
            <a:ext cx="393834" cy="261039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4" type="body"/>
          </p:nvPr>
        </p:nvSpPr>
        <p:spPr>
          <a:xfrm>
            <a:off x="5021188" y="5782801"/>
            <a:ext cx="3868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700"/>
              <a:buNone/>
              <a:defRPr sz="700">
                <a:solidFill>
                  <a:srgbClr val="7F7F7F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992778" y="6133199"/>
            <a:ext cx="789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unicesumar.edu.br/pesquisa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hyperlink" Target="http://www.saude.gov.br/saude-de-a-z/dengu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2549" r="0" t="0"/>
          <a:stretch/>
        </p:blipFill>
        <p:spPr>
          <a:xfrm>
            <a:off x="-34834" y="0"/>
            <a:ext cx="898998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>
            <p:ph type="title"/>
          </p:nvPr>
        </p:nvSpPr>
        <p:spPr>
          <a:xfrm>
            <a:off x="628650" y="1609039"/>
            <a:ext cx="4816561" cy="418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pt-BR" sz="5400"/>
              <a:t>Como elaborar Projeto de Pesquisa?</a:t>
            </a:r>
            <a:br>
              <a:rPr lang="pt-BR" sz="5400"/>
            </a:b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ctrTitle"/>
          </p:nvPr>
        </p:nvSpPr>
        <p:spPr>
          <a:xfrm>
            <a:off x="0" y="4181294"/>
            <a:ext cx="9152309" cy="1413136"/>
          </a:xfrm>
          <a:prstGeom prst="rect">
            <a:avLst/>
          </a:prstGeom>
          <a:solidFill>
            <a:srgbClr val="005388"/>
          </a:solidFill>
          <a:ln cap="flat" cmpd="sng" w="9525">
            <a:solidFill>
              <a:srgbClr val="00538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pt-BR"/>
              <a:t>Como elaborar Projeto de Pesquisa?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-1" y="5943489"/>
            <a:ext cx="9152311" cy="584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888888"/>
              </a:buClr>
              <a:buSzPts val="1800"/>
              <a:buNone/>
            </a:pPr>
            <a:r>
              <a:rPr lang="pt-BR"/>
              <a:t>Professora Doutora Iara Carnevale de Almeida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172601" y="1896569"/>
            <a:ext cx="5010793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Calibri"/>
              <a:buNone/>
            </a:pPr>
            <a:r>
              <a:rPr lang="pt-BR" sz="2600"/>
              <a:t>A imaginação é mais importante que a ciência, porque a ciência é limitada, ao passo que a imaginação abrange o mundo inteiro.</a:t>
            </a:r>
            <a:endParaRPr sz="2600"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172601" y="5181600"/>
            <a:ext cx="3890448" cy="271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600"/>
              </a:spcAft>
              <a:buClr>
                <a:srgbClr val="D8D8D8"/>
              </a:buClr>
              <a:buSzPts val="1400"/>
              <a:buNone/>
            </a:pPr>
            <a:r>
              <a:rPr lang="pt-BR"/>
              <a:t>Albert Einstein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1596952" y="1511677"/>
            <a:ext cx="7896900" cy="4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5687500" y="1664675"/>
            <a:ext cx="3700200" cy="4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INTRODUÇÃO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  1.1. OBJETIVOS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  1.2. JUSTIFICATIVA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REFERENCIAL TEÓRICO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METODOLOGIA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CRONOGRAMA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REFERÊNCIAS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APÊNDICE</a:t>
            </a:r>
            <a:br>
              <a:rPr b="1"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ANEXO</a:t>
            </a: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25" y="2005525"/>
            <a:ext cx="3985775" cy="36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/>
          <p:nvPr/>
        </p:nvSpPr>
        <p:spPr>
          <a:xfrm rot="10800000">
            <a:off x="4740212" y="3656675"/>
            <a:ext cx="779100" cy="331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0808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Projeto de Pesquisa?</a:t>
            </a:r>
            <a:endParaRPr b="1"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Etapas</a:t>
            </a:r>
            <a:r>
              <a:rPr b="1" lang="pt-BR" sz="5400"/>
              <a:t> Necessárias</a:t>
            </a:r>
            <a:endParaRPr b="1" sz="5400"/>
          </a:p>
        </p:txBody>
      </p:sp>
      <p:sp>
        <p:nvSpPr>
          <p:cNvPr id="127" name="Google Shape;127;p23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Escolher a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Temática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Revisar literatura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iniciar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Referencial teórico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Formular o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(1-2)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Construir a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(1-3)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os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Objetivos geral e específicos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resolver etapa (3)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Escrever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conforme etapas (1-4)</a:t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satisfazer  os objetivos específicos definidos em etapa (5)</a:t>
            </a:r>
            <a:endParaRPr b="1"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 as atividades necessárias, definidas em etapa (7)</a:t>
            </a:r>
            <a:endParaRPr sz="2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idx="3" type="body"/>
          </p:nvPr>
        </p:nvSpPr>
        <p:spPr>
          <a:xfrm>
            <a:off x="969225" y="1252800"/>
            <a:ext cx="7896900" cy="43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Vamos conhecer o template do </a:t>
            </a:r>
            <a:r>
              <a:rPr b="1" lang="pt-BR" sz="5400"/>
              <a:t>Projeto de Pesquisa na Unicesumar?</a:t>
            </a:r>
            <a:endParaRPr b="1" sz="5400"/>
          </a:p>
          <a:p>
            <a:pPr indent="0" lvl="0" marL="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5388"/>
              </a:buClr>
              <a:buSzPts val="5400"/>
              <a:buNone/>
            </a:pPr>
            <a:r>
              <a:t/>
            </a:r>
            <a:endParaRPr b="1" sz="5400"/>
          </a:p>
          <a:p>
            <a:pPr indent="-39370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600"/>
              <a:buChar char="●"/>
            </a:pPr>
            <a:r>
              <a:rPr b="1" lang="pt-BR" sz="2600"/>
              <a:t>Acesse o site da Diretoria de Pesquisa:</a:t>
            </a:r>
            <a:endParaRPr b="1" sz="2600"/>
          </a:p>
          <a:p>
            <a:pPr indent="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2600"/>
              <a:t>&lt;</a:t>
            </a:r>
            <a:r>
              <a:rPr lang="pt-BR" sz="2600" u="sng">
                <a:solidFill>
                  <a:schemeClr val="hlink"/>
                </a:solidFill>
                <a:hlinkClick r:id="rId3"/>
              </a:rPr>
              <a:t>https://www.unicesumar.edu.br/pesquisa/</a:t>
            </a:r>
            <a:r>
              <a:rPr b="1" lang="pt-BR" sz="2600"/>
              <a:t>&gt;</a:t>
            </a:r>
            <a:endParaRPr b="1" sz="2600"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idx="2" type="body"/>
          </p:nvPr>
        </p:nvSpPr>
        <p:spPr>
          <a:xfrm>
            <a:off x="992775" y="498283"/>
            <a:ext cx="7896900" cy="101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No menu, procure por “PIBIC - Programa Institucional de Bolsas de Iniciação Científica, Tecnológica e Inovação”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800" y="2014400"/>
            <a:ext cx="8306849" cy="387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/>
          <p:nvPr/>
        </p:nvSpPr>
        <p:spPr>
          <a:xfrm>
            <a:off x="1107650" y="4336325"/>
            <a:ext cx="6600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000" y="1955288"/>
            <a:ext cx="8246611" cy="403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/>
          <p:nvPr/>
        </p:nvSpPr>
        <p:spPr>
          <a:xfrm>
            <a:off x="3016575" y="4171350"/>
            <a:ext cx="6600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  <p:sp>
        <p:nvSpPr>
          <p:cNvPr id="149" name="Google Shape;149;p26"/>
          <p:cNvSpPr txBox="1"/>
          <p:nvPr>
            <p:ph idx="2" type="body"/>
          </p:nvPr>
        </p:nvSpPr>
        <p:spPr>
          <a:xfrm>
            <a:off x="892850" y="286183"/>
            <a:ext cx="7896900" cy="101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Escolha a opção </a:t>
            </a:r>
            <a:r>
              <a:rPr lang="pt-BR"/>
              <a:t>“</a:t>
            </a:r>
            <a:r>
              <a:rPr lang="pt-BR"/>
              <a:t>Programa Institucional de Bolsas de Iniciação Científica</a:t>
            </a:r>
            <a:r>
              <a:rPr lang="pt-BR"/>
              <a:t>”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idx="2" type="body"/>
          </p:nvPr>
        </p:nvSpPr>
        <p:spPr>
          <a:xfrm>
            <a:off x="892850" y="286183"/>
            <a:ext cx="7896900" cy="101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Escolha a opção “Programa Institucional de Bolsas de Iniciação Científica”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025" y="1448674"/>
            <a:ext cx="8255575" cy="465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892850" y="286174"/>
            <a:ext cx="7896900" cy="116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Aqui estão todos os links que precisa. </a:t>
            </a:r>
            <a:r>
              <a:rPr lang="pt-BR"/>
              <a:t>Procure baixar o .doc do projeto de pesquisa e assistir as próximas vídeo-aulas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101" y="1592100"/>
            <a:ext cx="7855500" cy="47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/>
          <p:nvPr/>
        </p:nvSpPr>
        <p:spPr>
          <a:xfrm rot="9884693">
            <a:off x="4878283" y="3676458"/>
            <a:ext cx="660162" cy="188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Etapas Necessárias</a:t>
            </a:r>
            <a:endParaRPr b="1" sz="5400"/>
          </a:p>
        </p:txBody>
      </p:sp>
      <p:sp>
        <p:nvSpPr>
          <p:cNvPr id="170" name="Google Shape;170;p29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Escolher a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Temática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Revisar literatura para iniciar</a:t>
            </a:r>
            <a:r>
              <a:rPr lang="pt-BR" sz="2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pt-BR" sz="26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Referencial teórico</a:t>
            </a:r>
            <a:endParaRPr b="1" sz="26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Formular o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conforme etapas (1-2)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Construir a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Justificativa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conforme etapas (1-3)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Determinar os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Objetivos geral e específicos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para resolver etapa (3)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Escrever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conforme etapas (1-4)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para satisfazer  os objetivos específicos definidos em etapa (5)</a:t>
            </a:r>
            <a:endParaRPr b="1"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Definir </a:t>
            </a:r>
            <a:r>
              <a:rPr b="1"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 com as atividades necessárias, definidas em etapa (7)</a:t>
            </a:r>
            <a:endParaRPr sz="26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50" y="1281275"/>
            <a:ext cx="4295450" cy="42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3487925" y="3790100"/>
            <a:ext cx="53190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A escolha depende do curso que você está fazendo,  da sua afinidade com áreas de pesquisa no seu curso e da escolha com o seu orientador.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1479125" y="155875"/>
            <a:ext cx="73281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Escolher a Temática</a:t>
            </a:r>
            <a:endParaRPr sz="2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Exemplo</a:t>
            </a:r>
            <a:endParaRPr b="1" sz="5400"/>
          </a:p>
        </p:txBody>
      </p:sp>
      <p:sp>
        <p:nvSpPr>
          <p:cNvPr id="183" name="Google Shape;183;p31"/>
          <p:cNvSpPr txBox="1"/>
          <p:nvPr/>
        </p:nvSpPr>
        <p:spPr>
          <a:xfrm>
            <a:off x="753700" y="1584900"/>
            <a:ext cx="8199900" cy="41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Na área da saúde temos um problema social muito sério que é a Dengue. Este poderia ser o seu tema de pesquisa! </a:t>
            </a:r>
            <a:r>
              <a:rPr b="1" lang="pt-BR" sz="2600">
                <a:latin typeface="Calibri"/>
                <a:ea typeface="Calibri"/>
                <a:cs typeface="Calibri"/>
                <a:sym typeface="Calibri"/>
              </a:rPr>
              <a:t>Passo 1 feito 👊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Na sequência, para determinar qual será o estudo realizado nesta temática, você deve procurar compreender melhor sobre esta doença.  Deve, para este caso, saber o que causa a doença,  quais são suas características, o que deve ser feito para prevenir, etc …  </a:t>
            </a: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satisfaz o </a:t>
            </a:r>
            <a:r>
              <a:rPr b="1"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,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quando construir o referencial teórico.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1559" y="5495700"/>
            <a:ext cx="938116" cy="9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/>
        </p:nvSpPr>
        <p:spPr>
          <a:xfrm>
            <a:off x="753700" y="5928800"/>
            <a:ext cx="7023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http://www.saude.gov.br/saude-de-a-z/dengue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065" y="4282850"/>
            <a:ext cx="2215475" cy="221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/>
          <p:nvPr/>
        </p:nvSpPr>
        <p:spPr>
          <a:xfrm>
            <a:off x="1479116" y="5043225"/>
            <a:ext cx="2215476" cy="6399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ABNT</a:t>
            </a:r>
          </a:p>
        </p:txBody>
      </p:sp>
      <p:sp>
        <p:nvSpPr>
          <p:cNvPr id="192" name="Google Shape;192;p32"/>
          <p:cNvSpPr/>
          <p:nvPr/>
        </p:nvSpPr>
        <p:spPr>
          <a:xfrm>
            <a:off x="992775" y="1782131"/>
            <a:ext cx="6057003" cy="1051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Base de Dados Confiáveis</a:t>
            </a:r>
          </a:p>
        </p:txBody>
      </p:sp>
      <p:sp>
        <p:nvSpPr>
          <p:cNvPr id="193" name="Google Shape;193;p32"/>
          <p:cNvSpPr/>
          <p:nvPr/>
        </p:nvSpPr>
        <p:spPr>
          <a:xfrm>
            <a:off x="4104400" y="3428988"/>
            <a:ext cx="4318154" cy="105167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134F5C"/>
                </a:solidFill>
                <a:latin typeface="Arial"/>
              </a:rPr>
              <a:t>Fichamento</a:t>
            </a:r>
          </a:p>
        </p:txBody>
      </p:sp>
      <p:sp>
        <p:nvSpPr>
          <p:cNvPr id="194" name="Google Shape;194;p32"/>
          <p:cNvSpPr txBox="1"/>
          <p:nvPr/>
        </p:nvSpPr>
        <p:spPr>
          <a:xfrm>
            <a:off x="1479125" y="155875"/>
            <a:ext cx="73281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Revisar literatura para iniciar referencial teórico</a:t>
            </a:r>
            <a:endParaRPr sz="2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Etapas Necessárias</a:t>
            </a:r>
            <a:endParaRPr b="1" sz="5400"/>
          </a:p>
        </p:txBody>
      </p:sp>
      <p:sp>
        <p:nvSpPr>
          <p:cNvPr id="200" name="Google Shape;200;p33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Escolher a Temática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Revisar literatura para iniciar Referencial teórico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Formular o Problema conforme etapas (1-2)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Construir a Justificativa conforme etapas (1-3)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Determinar os Objetivos geral e específicos para resolver etapa (3)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Escrever Introdução conforme etapas (1-4)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Definir Metodologia para satisfazer  os objetivos específicos definidos em etapa (5)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Definir Cronograma com as atividades necessárias, definidas em etapa (7)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/>
        </p:nvSpPr>
        <p:spPr>
          <a:xfrm>
            <a:off x="564925" y="1854599"/>
            <a:ext cx="84069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Após escolha por uma temática, 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eve especificar o </a:t>
            </a: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Problema 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que pretende solucionar.  Se necessário, com apresentação de hipóteses.</a:t>
            </a:r>
            <a:br>
              <a:rPr lang="pt-BR" sz="3200">
                <a:latin typeface="Calibri"/>
                <a:ea typeface="Calibri"/>
                <a:cs typeface="Calibri"/>
                <a:sym typeface="Calibri"/>
              </a:rPr>
            </a:br>
            <a:endParaRPr i="1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7081825" y="366477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34"/>
          <p:cNvSpPr/>
          <p:nvPr/>
        </p:nvSpPr>
        <p:spPr>
          <a:xfrm flipH="1" rot="10800000">
            <a:off x="6071863" y="399117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4"/>
          <p:cNvSpPr/>
          <p:nvPr/>
        </p:nvSpPr>
        <p:spPr>
          <a:xfrm>
            <a:off x="3892800" y="3664775"/>
            <a:ext cx="18900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mbria"/>
                <a:ea typeface="Cambria"/>
                <a:cs typeface="Cambria"/>
                <a:sym typeface="Cambria"/>
              </a:rPr>
              <a:t>Revisar Literatura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703775" y="366477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Temática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34"/>
          <p:cNvSpPr/>
          <p:nvPr/>
        </p:nvSpPr>
        <p:spPr>
          <a:xfrm flipH="1" rot="10800000">
            <a:off x="2882838" y="399117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4"/>
          <p:cNvSpPr txBox="1"/>
          <p:nvPr/>
        </p:nvSpPr>
        <p:spPr>
          <a:xfrm>
            <a:off x="1479125" y="155875"/>
            <a:ext cx="73281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Formular o Problema conforme etapas (1-2)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76" y="161530"/>
            <a:ext cx="1316000" cy="13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564925" y="1854599"/>
            <a:ext cx="8406900" cy="1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Justificativa 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deve indicar porquê é importante que a pesquisa seja desenvolvida, salientando quais são os benefícios adquiridos após sua conclusão.</a:t>
            </a:r>
            <a:endParaRPr i="1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5"/>
          <p:cNvSpPr txBox="1"/>
          <p:nvPr/>
        </p:nvSpPr>
        <p:spPr>
          <a:xfrm>
            <a:off x="1479125" y="155875"/>
            <a:ext cx="73281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Construir a Justificativa conforme etapas (1-3)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5"/>
          <p:cNvSpPr/>
          <p:nvPr/>
        </p:nvSpPr>
        <p:spPr>
          <a:xfrm>
            <a:off x="910125" y="392455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35"/>
          <p:cNvSpPr/>
          <p:nvPr/>
        </p:nvSpPr>
        <p:spPr>
          <a:xfrm flipH="1" rot="10800000">
            <a:off x="2996438" y="425095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5"/>
          <p:cNvSpPr/>
          <p:nvPr/>
        </p:nvSpPr>
        <p:spPr>
          <a:xfrm flipH="1" rot="10800000">
            <a:off x="6060825" y="425095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/>
          <p:nvPr/>
        </p:nvSpPr>
        <p:spPr>
          <a:xfrm>
            <a:off x="6917225" y="385490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Justificativa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p35"/>
          <p:cNvSpPr/>
          <p:nvPr/>
        </p:nvSpPr>
        <p:spPr>
          <a:xfrm>
            <a:off x="3944088" y="3924550"/>
            <a:ext cx="18900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mbria"/>
                <a:ea typeface="Cambria"/>
                <a:cs typeface="Cambria"/>
                <a:sym typeface="Cambria"/>
              </a:rPr>
              <a:t>Revisar Literatura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01" y="155880"/>
            <a:ext cx="1316000" cy="13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/>
        </p:nvSpPr>
        <p:spPr>
          <a:xfrm>
            <a:off x="564925" y="1854600"/>
            <a:ext cx="84069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Objetivo geral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 deve responder ao problema apresentado na introdução. Este objetivo deve explicitar como o problema será solucionado.</a:t>
            </a:r>
            <a:endParaRPr i="1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2380125" y="155875"/>
            <a:ext cx="6427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Determinar os Objetivos geral e específicos para resolver etapa (3)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6"/>
          <p:cNvSpPr/>
          <p:nvPr/>
        </p:nvSpPr>
        <p:spPr>
          <a:xfrm>
            <a:off x="2125225" y="397977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5128775" y="397977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Geral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3" name="Google Shape;233;p36"/>
          <p:cNvSpPr/>
          <p:nvPr/>
        </p:nvSpPr>
        <p:spPr>
          <a:xfrm flipH="1" rot="10800000">
            <a:off x="4211538" y="430617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26" y="155880"/>
            <a:ext cx="1316000" cy="13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/>
        </p:nvSpPr>
        <p:spPr>
          <a:xfrm>
            <a:off x="564925" y="1854600"/>
            <a:ext cx="84069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 devem ser definidos como sendo “atividades” e/ou “passos” que devem ser realizados para que o objetivo geral seja satisfeito.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2380125" y="155875"/>
            <a:ext cx="6427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Determinar os Objetivos geral e específicos para resolver etapa (3)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26" y="155880"/>
            <a:ext cx="1316000" cy="13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/>
          <p:nvPr/>
        </p:nvSpPr>
        <p:spPr>
          <a:xfrm>
            <a:off x="771760" y="440867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3649218" y="437605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Geral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4" name="Google Shape;244;p37"/>
          <p:cNvSpPr/>
          <p:nvPr/>
        </p:nvSpPr>
        <p:spPr>
          <a:xfrm flipH="1" rot="10800000">
            <a:off x="2817731" y="473507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 flipH="1" rot="10800000">
            <a:off x="5680413" y="470245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>
            <a:off x="7117038" y="330800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Específico 1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7"/>
          <p:cNvSpPr/>
          <p:nvPr/>
        </p:nvSpPr>
        <p:spPr>
          <a:xfrm>
            <a:off x="7117038" y="544765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Específico 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7915938" y="4652325"/>
            <a:ext cx="292200" cy="647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>
            <a:off x="6658463" y="3304450"/>
            <a:ext cx="292200" cy="3175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Exemplo (</a:t>
            </a:r>
            <a:r>
              <a:rPr b="1" i="1" lang="pt-BR" sz="3600"/>
              <a:t>DRAFT</a:t>
            </a:r>
            <a:r>
              <a:rPr b="1" lang="pt-BR" sz="5400"/>
              <a:t>)</a:t>
            </a:r>
            <a:endParaRPr b="1" sz="5400"/>
          </a:p>
        </p:txBody>
      </p:sp>
      <p:graphicFrame>
        <p:nvGraphicFramePr>
          <p:cNvPr id="255" name="Google Shape;255;p38"/>
          <p:cNvGraphicFramePr/>
          <p:nvPr/>
        </p:nvGraphicFramePr>
        <p:xfrm>
          <a:off x="917025" y="140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{D3D3DCA0-9CAF-4C69-B225-D5DFA49E00AF}</a:tableStyleId>
              </a:tblPr>
              <a:tblGrid>
                <a:gridCol w="2221525"/>
                <a:gridCol w="5826875"/>
              </a:tblGrid>
              <a:tr h="48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Tema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Problema de pesquisa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Geral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Doença </a:t>
                      </a:r>
                      <a:r>
                        <a:rPr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Dengue</a:t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“</a:t>
                      </a:r>
                      <a:r>
                        <a:rPr i="1" lang="pt-BR" sz="20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 tratamento é feito de forma sintomática, sempre de acordo com avaliação do profissional de saúde, conforme cada caso</a:t>
                      </a:r>
                      <a:r>
                        <a:rPr lang="pt-BR" sz="20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”</a:t>
                      </a:r>
                      <a:endParaRPr sz="2000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Quais são os tratamentos mais eficientes para o tratamento da Dengue?</a:t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Determinar quais têm sido são os tratamentos mais eficientes</a:t>
                      </a:r>
                      <a:r>
                        <a:rPr lang="pt-BR" sz="2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na cidade de Maringá.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Exemplo (</a:t>
            </a:r>
            <a:r>
              <a:rPr b="1" i="1" lang="pt-BR" sz="3600"/>
              <a:t>DRAFT</a:t>
            </a:r>
            <a:r>
              <a:rPr b="1" lang="pt-BR" sz="5400"/>
              <a:t>)</a:t>
            </a:r>
            <a:endParaRPr b="1" sz="5400"/>
          </a:p>
        </p:txBody>
      </p:sp>
      <p:graphicFrame>
        <p:nvGraphicFramePr>
          <p:cNvPr id="261" name="Google Shape;261;p39"/>
          <p:cNvGraphicFramePr/>
          <p:nvPr/>
        </p:nvGraphicFramePr>
        <p:xfrm>
          <a:off x="917025" y="158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{D3D3DCA0-9CAF-4C69-B225-D5DFA49E00AF}</a:tableStyleId>
              </a:tblPr>
              <a:tblGrid>
                <a:gridCol w="1802575"/>
                <a:gridCol w="6271075"/>
              </a:tblGrid>
              <a:tr h="39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Geral</a:t>
                      </a:r>
                      <a:endParaRPr b="1" i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Específicos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Determinar quais têm sido são os tratamentos mais eficientes </a:t>
                      </a:r>
                      <a:r>
                        <a:rPr i="1" lang="pt-B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 cidade de Maringá.</a:t>
                      </a:r>
                      <a:endParaRPr i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Compreender a doença Dengue.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Determinar a incidência da doença na cidade de Maringá, os tratamentos que têm sido aplicados e a eficiência destes.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os resultados obtidos junto à comunidade médica.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Etapas Necessárias</a:t>
            </a:r>
            <a:endParaRPr b="1" sz="5400"/>
          </a:p>
        </p:txBody>
      </p:sp>
      <p:sp>
        <p:nvSpPr>
          <p:cNvPr id="267" name="Google Shape;267;p40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Escolher a Temática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Revisar literatura para iniciar Referencial teórico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Formular o Problema conforme etapas (1-2)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Construir a Justificativa conforme etapas (1-3)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Determinar os Objetivos geral e específicos para resolver etapa (3)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Escrever Introdução conforme etapas (1-4)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Definir Metodologia para satisfazer  os objetivos específicos definidos em etapa (5)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Definir Cronograma com as atividades necessárias, definidas em etapa (7)</a:t>
            </a:r>
            <a:endParaRPr sz="2600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/>
        </p:nvSpPr>
        <p:spPr>
          <a:xfrm>
            <a:off x="564925" y="1854600"/>
            <a:ext cx="84069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Temática 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na área de Engenharia de Software, desde uma visão geral até uma visão detalhada dos conceitos necessários para a compreensão do que se pretende realizar; e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2600">
                <a:latin typeface="Cambria"/>
                <a:ea typeface="Cambria"/>
                <a:cs typeface="Cambria"/>
                <a:sym typeface="Cambria"/>
              </a:rPr>
              <a:t>Problema 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que se pretende solucionar, após apresentação feita pela temática e, se necessário, com apresentação de hipóteses.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2380125" y="155875"/>
            <a:ext cx="6427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Escrever Introdução conforme etapas (1-4)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226" y="155880"/>
            <a:ext cx="1316000" cy="13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1"/>
          <p:cNvSpPr/>
          <p:nvPr/>
        </p:nvSpPr>
        <p:spPr>
          <a:xfrm>
            <a:off x="3658375" y="529935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Temática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6" name="Google Shape;276;p41"/>
          <p:cNvSpPr/>
          <p:nvPr/>
        </p:nvSpPr>
        <p:spPr>
          <a:xfrm>
            <a:off x="6643625" y="5299350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7" name="Google Shape;277;p41"/>
          <p:cNvSpPr/>
          <p:nvPr/>
        </p:nvSpPr>
        <p:spPr>
          <a:xfrm flipH="1" rot="10800000">
            <a:off x="5735550" y="562575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D85C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/>
          <p:nvPr/>
        </p:nvSpPr>
        <p:spPr>
          <a:xfrm>
            <a:off x="673125" y="5299350"/>
            <a:ext cx="18900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latin typeface="Cambria"/>
                <a:ea typeface="Cambria"/>
                <a:cs typeface="Cambria"/>
                <a:sym typeface="Cambria"/>
              </a:rPr>
              <a:t>Revisão Literatura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41"/>
          <p:cNvSpPr/>
          <p:nvPr/>
        </p:nvSpPr>
        <p:spPr>
          <a:xfrm flipH="1" rot="10800000">
            <a:off x="2750300" y="562575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/>
          <p:nvPr/>
        </p:nvSpPr>
        <p:spPr>
          <a:xfrm>
            <a:off x="-771050" y="1184400"/>
            <a:ext cx="10845150" cy="5807325"/>
          </a:xfrm>
          <a:prstGeom prst="flowChartMerge">
            <a:avLst/>
          </a:prstGeom>
          <a:solidFill>
            <a:srgbClr val="80808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/>
          <p:nvPr/>
        </p:nvSpPr>
        <p:spPr>
          <a:xfrm>
            <a:off x="955150" y="1470925"/>
            <a:ext cx="70107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Temática (visão ampla)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42"/>
          <p:cNvSpPr/>
          <p:nvPr/>
        </p:nvSpPr>
        <p:spPr>
          <a:xfrm>
            <a:off x="3515500" y="5347825"/>
            <a:ext cx="18900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Problema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88" name="Google Shape;2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251" y="4881280"/>
            <a:ext cx="1316000" cy="13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 flipH="1" rot="-5400000">
            <a:off x="4100050" y="281012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2"/>
          <p:cNvSpPr/>
          <p:nvPr/>
        </p:nvSpPr>
        <p:spPr>
          <a:xfrm>
            <a:off x="1938825" y="3429000"/>
            <a:ext cx="4814100" cy="8583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Temática (visão focada)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1" name="Google Shape;291;p42"/>
          <p:cNvSpPr/>
          <p:nvPr/>
        </p:nvSpPr>
        <p:spPr>
          <a:xfrm flipH="1" rot="-5400000">
            <a:off x="4100050" y="466142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2"/>
          <p:cNvSpPr txBox="1"/>
          <p:nvPr/>
        </p:nvSpPr>
        <p:spPr>
          <a:xfrm>
            <a:off x="2380125" y="155875"/>
            <a:ext cx="6427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Escrever Introdução conforme etapas (1-4)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/>
          <p:nvPr/>
        </p:nvSpPr>
        <p:spPr>
          <a:xfrm>
            <a:off x="-771050" y="1184400"/>
            <a:ext cx="10845150" cy="5807325"/>
          </a:xfrm>
          <a:prstGeom prst="flowChartMerge">
            <a:avLst/>
          </a:prstGeom>
          <a:solidFill>
            <a:srgbClr val="80808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3"/>
          <p:cNvSpPr/>
          <p:nvPr/>
        </p:nvSpPr>
        <p:spPr>
          <a:xfrm>
            <a:off x="353500" y="1184400"/>
            <a:ext cx="8578500" cy="1386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Narrativa sobre doenças tropicais, dentre elas a Dengue. Problema social.</a:t>
            </a:r>
            <a:endParaRPr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Doença Dengue: O que é. Características da doença. Sintomas. Problema social. </a:t>
            </a:r>
            <a:endParaRPr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1885350" y="5347825"/>
            <a:ext cx="62691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Quais são os tratamentos mais eficientes para o tratamento da Dengue?</a:t>
            </a:r>
            <a:endParaRPr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1" name="Google Shape;301;p43"/>
          <p:cNvSpPr/>
          <p:nvPr/>
        </p:nvSpPr>
        <p:spPr>
          <a:xfrm flipH="1" rot="-5400000">
            <a:off x="4100050" y="2919700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3"/>
          <p:cNvSpPr/>
          <p:nvPr/>
        </p:nvSpPr>
        <p:spPr>
          <a:xfrm>
            <a:off x="1743950" y="3429000"/>
            <a:ext cx="6033300" cy="8583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Tratamentos aplicados.</a:t>
            </a:r>
            <a:endParaRPr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Inexistência de tratamento específico.</a:t>
            </a:r>
            <a:endParaRPr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03" name="Google Shape;303;p43"/>
          <p:cNvSpPr/>
          <p:nvPr/>
        </p:nvSpPr>
        <p:spPr>
          <a:xfrm flipH="1" rot="-5400000">
            <a:off x="4100050" y="4661425"/>
            <a:ext cx="7209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3"/>
          <p:cNvSpPr txBox="1"/>
          <p:nvPr>
            <p:ph idx="3" type="body"/>
          </p:nvPr>
        </p:nvSpPr>
        <p:spPr>
          <a:xfrm>
            <a:off x="1071451" y="2463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Exemplo Introdução(</a:t>
            </a:r>
            <a:r>
              <a:rPr b="1" i="1" lang="pt-BR" sz="3000">
                <a:latin typeface="Cambria"/>
                <a:ea typeface="Cambria"/>
                <a:cs typeface="Cambria"/>
                <a:sym typeface="Cambria"/>
              </a:rPr>
              <a:t>DRAFT</a:t>
            </a: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)</a:t>
            </a:r>
            <a:endParaRPr b="1" sz="3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/>
          <p:nvPr/>
        </p:nvSpPr>
        <p:spPr>
          <a:xfrm>
            <a:off x="1973745" y="5493616"/>
            <a:ext cx="18525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</a:rPr>
              <a:t>Direta</a:t>
            </a:r>
            <a:endParaRPr/>
          </a:p>
        </p:txBody>
      </p:sp>
      <p:sp>
        <p:nvSpPr>
          <p:cNvPr id="310" name="Google Shape;310;p44"/>
          <p:cNvSpPr/>
          <p:nvPr/>
        </p:nvSpPr>
        <p:spPr>
          <a:xfrm>
            <a:off x="5300040" y="5493628"/>
            <a:ext cx="1852500" cy="10326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</a:rPr>
              <a:t>Indireta</a:t>
            </a:r>
            <a:endParaRPr/>
          </a:p>
        </p:txBody>
      </p:sp>
      <p:sp>
        <p:nvSpPr>
          <p:cNvPr id="311" name="Google Shape;311;p44"/>
          <p:cNvSpPr/>
          <p:nvPr/>
        </p:nvSpPr>
        <p:spPr>
          <a:xfrm>
            <a:off x="3622091" y="3474631"/>
            <a:ext cx="21363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Citação</a:t>
            </a:r>
            <a:endParaRPr b="1"/>
          </a:p>
        </p:txBody>
      </p:sp>
      <p:cxnSp>
        <p:nvCxnSpPr>
          <p:cNvPr id="312" name="Google Shape;312;p44"/>
          <p:cNvCxnSpPr>
            <a:stCxn id="311" idx="2"/>
            <a:endCxn id="309" idx="0"/>
          </p:cNvCxnSpPr>
          <p:nvPr/>
        </p:nvCxnSpPr>
        <p:spPr>
          <a:xfrm rot="5400000">
            <a:off x="3301991" y="4105381"/>
            <a:ext cx="986400" cy="1790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44"/>
          <p:cNvCxnSpPr/>
          <p:nvPr/>
        </p:nvCxnSpPr>
        <p:spPr>
          <a:xfrm>
            <a:off x="4690271" y="4992055"/>
            <a:ext cx="2105700" cy="458700"/>
          </a:xfrm>
          <a:prstGeom prst="bentConnector3">
            <a:avLst>
              <a:gd fmla="val 99387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44"/>
          <p:cNvSpPr/>
          <p:nvPr/>
        </p:nvSpPr>
        <p:spPr>
          <a:xfrm>
            <a:off x="636300" y="1198788"/>
            <a:ext cx="18525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Temática &amp;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Problema</a:t>
            </a:r>
            <a:endParaRPr b="1"/>
          </a:p>
        </p:txBody>
      </p:sp>
      <p:sp>
        <p:nvSpPr>
          <p:cNvPr id="315" name="Google Shape;315;p44"/>
          <p:cNvSpPr/>
          <p:nvPr/>
        </p:nvSpPr>
        <p:spPr>
          <a:xfrm flipH="1" rot="10800000">
            <a:off x="2702170" y="1525185"/>
            <a:ext cx="7065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4"/>
          <p:cNvSpPr/>
          <p:nvPr/>
        </p:nvSpPr>
        <p:spPr>
          <a:xfrm flipH="1" rot="-5400000">
            <a:off x="4329840" y="2666846"/>
            <a:ext cx="720900" cy="37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4"/>
          <p:cNvSpPr/>
          <p:nvPr/>
        </p:nvSpPr>
        <p:spPr>
          <a:xfrm>
            <a:off x="3599117" y="1198775"/>
            <a:ext cx="1852500" cy="10326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Revisar Literatura</a:t>
            </a:r>
            <a:endParaRPr b="1"/>
          </a:p>
        </p:txBody>
      </p:sp>
      <p:sp>
        <p:nvSpPr>
          <p:cNvPr id="318" name="Google Shape;318;p44"/>
          <p:cNvSpPr/>
          <p:nvPr/>
        </p:nvSpPr>
        <p:spPr>
          <a:xfrm>
            <a:off x="6978209" y="3191232"/>
            <a:ext cx="2105700" cy="16311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</a:rPr>
              <a:t>Referência Bibliográfica,</a:t>
            </a:r>
            <a:endParaRPr b="1"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</a:rPr>
              <a:t>conforme ABNT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319" name="Google Shape;319;p44"/>
          <p:cNvSpPr/>
          <p:nvPr/>
        </p:nvSpPr>
        <p:spPr>
          <a:xfrm flipH="1" rot="10800000">
            <a:off x="6015010" y="3801029"/>
            <a:ext cx="706500" cy="37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034" y="5077056"/>
            <a:ext cx="1289965" cy="131599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4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Citação e Referência Bibliográfica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/>
        </p:nvSpPr>
        <p:spPr>
          <a:xfrm>
            <a:off x="693350" y="1651475"/>
            <a:ext cx="83229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F0000"/>
                </a:solidFill>
              </a:rPr>
              <a:t>Direta</a:t>
            </a:r>
            <a:r>
              <a:rPr lang="pt-BR" sz="3200">
                <a:solidFill>
                  <a:srgbClr val="FF0000"/>
                </a:solidFill>
              </a:rPr>
              <a:t>:</a:t>
            </a:r>
            <a:r>
              <a:rPr lang="pt-BR" sz="3200"/>
              <a:t> Conforme AUTOR(ANO), “ …. texto escrito pelo AUTOR, sem alterações …”</a:t>
            </a:r>
            <a:endParaRPr sz="3200"/>
          </a:p>
        </p:txBody>
      </p:sp>
      <p:sp>
        <p:nvSpPr>
          <p:cNvPr id="328" name="Google Shape;328;p45"/>
          <p:cNvSpPr txBox="1"/>
          <p:nvPr/>
        </p:nvSpPr>
        <p:spPr>
          <a:xfrm>
            <a:off x="693350" y="4269625"/>
            <a:ext cx="83229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38761D"/>
                </a:solidFill>
              </a:rPr>
              <a:t>Indireta</a:t>
            </a:r>
            <a:r>
              <a:rPr lang="pt-BR" sz="3200"/>
              <a:t>: Conforme AUTOR(ANO), …. texto escrito com as suas palavras sobre o que o AUTOR disse.</a:t>
            </a:r>
            <a:endParaRPr sz="3200"/>
          </a:p>
        </p:txBody>
      </p:sp>
      <p:sp>
        <p:nvSpPr>
          <p:cNvPr id="329" name="Google Shape;329;p45"/>
          <p:cNvSpPr txBox="1"/>
          <p:nvPr/>
        </p:nvSpPr>
        <p:spPr>
          <a:xfrm>
            <a:off x="3977200" y="5600625"/>
            <a:ext cx="244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Recomendado!</a:t>
            </a:r>
            <a:endParaRPr b="1"/>
          </a:p>
        </p:txBody>
      </p:sp>
      <p:sp>
        <p:nvSpPr>
          <p:cNvPr id="330" name="Google Shape;330;p45"/>
          <p:cNvSpPr txBox="1"/>
          <p:nvPr/>
        </p:nvSpPr>
        <p:spPr>
          <a:xfrm>
            <a:off x="801275" y="2907925"/>
            <a:ext cx="793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/>
              <a:t>Usar o mínimo necessário! Evitar ao máximo o </a:t>
            </a:r>
            <a:r>
              <a:rPr b="1" i="1" lang="pt-BR" sz="2400"/>
              <a:t>apud</a:t>
            </a:r>
            <a:endParaRPr b="1" i="1"/>
          </a:p>
        </p:txBody>
      </p:sp>
      <p:cxnSp>
        <p:nvCxnSpPr>
          <p:cNvPr id="331" name="Google Shape;331;p45"/>
          <p:cNvCxnSpPr/>
          <p:nvPr/>
        </p:nvCxnSpPr>
        <p:spPr>
          <a:xfrm flipH="1" rot="10800000">
            <a:off x="2533425" y="3859525"/>
            <a:ext cx="4458900" cy="21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45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Citação e Referência Bibliográfica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5400"/>
              <a:t>Etapas Necessárias</a:t>
            </a:r>
            <a:endParaRPr b="1" sz="5400"/>
          </a:p>
        </p:txBody>
      </p:sp>
      <p:sp>
        <p:nvSpPr>
          <p:cNvPr id="338" name="Google Shape;338;p46"/>
          <p:cNvSpPr txBox="1"/>
          <p:nvPr/>
        </p:nvSpPr>
        <p:spPr>
          <a:xfrm>
            <a:off x="753700" y="1584900"/>
            <a:ext cx="81999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Escolher a Temática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Revisar literatura para iniciar Referencial teórico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Formular o Problema conforme etapas (1-2)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Construir a Justificativa conforme etapas (1-3)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Determinar os Objetivos geral e específicos para resolver etapa (3)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Escrever Introdução conforme etapas (1-4)</a:t>
            </a:r>
            <a:endParaRPr sz="2600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Definir Metodologia para satisfazer  os objetivos específicos definidos em etapa (5)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Definir Cronograma com as atividades necessárias, definidas em etapa (7)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3-21 at 11.07.07.png" id="343" name="Google Shape;3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75" y="645450"/>
            <a:ext cx="8391400" cy="52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750725" y="1390650"/>
            <a:ext cx="8159100" cy="407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Sugere-se que sejam verificadas os procedimentos existentes. Deve descrever os passos que serão utilizados para resolver os objetivos específicos propostos, detalhando os procedimentos e recursos como, por exemplo: 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instrumentos de coleta de dados,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ferramentas,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indicação da população e amostragem, e como os dados serão tabulados e analisados.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8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Definir Metodologia para satisfazer  os objetivos específicos definidos em etapa (5)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17-03-21 at 11.07.07.png"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025" y="4761975"/>
            <a:ext cx="2782975" cy="175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651" y="4982130"/>
            <a:ext cx="1316000" cy="13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Exemplo Objetivos (</a:t>
            </a:r>
            <a:r>
              <a:rPr b="1" i="1" lang="pt-BR" sz="3000">
                <a:latin typeface="Cambria"/>
                <a:ea typeface="Cambria"/>
                <a:cs typeface="Cambria"/>
                <a:sym typeface="Cambria"/>
              </a:rPr>
              <a:t>DRAFT</a:t>
            </a: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)</a:t>
            </a:r>
            <a:endParaRPr b="1" sz="36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58" name="Google Shape;358;p49"/>
          <p:cNvGraphicFramePr/>
          <p:nvPr/>
        </p:nvGraphicFramePr>
        <p:xfrm>
          <a:off x="917025" y="158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{D3D3DCA0-9CAF-4C69-B225-D5DFA49E00AF}</a:tableStyleId>
              </a:tblPr>
              <a:tblGrid>
                <a:gridCol w="1679500"/>
                <a:gridCol w="6368900"/>
              </a:tblGrid>
              <a:tr h="39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Geral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 Específicos</a:t>
                      </a:r>
                      <a:endParaRPr b="1" sz="2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Determinar quais têm sido são os tratamentos mais eficientes </a:t>
                      </a:r>
                      <a:r>
                        <a:rPr lang="pt-BR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 cidade de Maringá.</a:t>
                      </a:r>
                      <a:endParaRPr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Compreender a doença Dengue.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Determinar a incidência da doença na cidade de Maringá, os tratamentos que têm sido aplicados e a eficiência destes.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3810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AutoNum type="arabicPeriod"/>
                      </a:pPr>
                      <a:r>
                        <a:rPr lang="pt-BR" sz="24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os resultados obtidos junto à comunidade médica.</a:t>
                      </a:r>
                      <a:endParaRPr sz="24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"/>
          <p:cNvSpPr txBox="1"/>
          <p:nvPr/>
        </p:nvSpPr>
        <p:spPr>
          <a:xfrm>
            <a:off x="841275" y="1521900"/>
            <a:ext cx="8199900" cy="46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pesquisa é de natureza aplicada com abordagem quantitativa e qualitativa. Para satisfazer os objetivos será realizada pesquisa exploratória com estudo de caso.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satisfazer o objetivo específico 1 -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Compreender a doença Dengue. Será realizada pesquisa bibliográfica, como também pesquisa documental junto ao SUS da cidade de Maringá.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satisfazer objetivo específico 2 - Determinar a incidência da doença na cidade de Maringá, os tratamentos que têm sido aplicados e a eficiência destes. A coleta de dados será obtida por aplicação de questionário junto ao SUS  da cidade de Maringá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… </a:t>
            </a:r>
            <a:r>
              <a:rPr i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ASSIM POR DIANTE ...</a:t>
            </a:r>
            <a:endParaRPr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50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Exemplo Metodologia (</a:t>
            </a:r>
            <a:r>
              <a:rPr b="1" i="1" lang="pt-BR" sz="3000">
                <a:latin typeface="Cambria"/>
                <a:ea typeface="Cambria"/>
                <a:cs typeface="Cambria"/>
                <a:sym typeface="Cambria"/>
              </a:rPr>
              <a:t>DRAFT</a:t>
            </a:r>
            <a:r>
              <a:rPr b="1" lang="pt-BR" sz="3600">
                <a:latin typeface="Cambria"/>
                <a:ea typeface="Cambria"/>
                <a:cs typeface="Cambria"/>
                <a:sym typeface="Cambria"/>
              </a:rPr>
              <a:t>)</a:t>
            </a:r>
            <a:endParaRPr b="1" sz="3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/>
          <p:nvPr/>
        </p:nvSpPr>
        <p:spPr>
          <a:xfrm>
            <a:off x="974225" y="1480550"/>
            <a:ext cx="7833000" cy="49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Realizar pesquisa bibliográfica exploratória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Elaborar Projeto de pesquisa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---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●"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Construção do questionário e aplicação de pré-teste.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●"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Submissão ao Comitê de Ética *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Char char="●"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Aplicação do questionário, com posterior  análise de dados.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… </a:t>
            </a:r>
            <a:r>
              <a:rPr i="1"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 ASSIM POR DIANTE ...</a:t>
            </a:r>
            <a:endParaRPr i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400">
                <a:latin typeface="Calibri"/>
                <a:ea typeface="Calibri"/>
                <a:cs typeface="Calibri"/>
                <a:sym typeface="Calibri"/>
              </a:rPr>
              <a:t>---</a:t>
            </a:r>
            <a:endParaRPr i="1"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Elaborar Relatório Final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Entrega Relatório ao orientador e, se necessário, realizar ajustes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Apresentação da pesquisa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1"/>
          <p:cNvSpPr txBox="1"/>
          <p:nvPr>
            <p:ph idx="3" type="body"/>
          </p:nvPr>
        </p:nvSpPr>
        <p:spPr>
          <a:xfrm>
            <a:off x="992776" y="468408"/>
            <a:ext cx="78969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rgbClr val="005388"/>
              </a:buClr>
              <a:buSzPts val="5400"/>
              <a:buNone/>
            </a:pPr>
            <a:r>
              <a:rPr b="1" lang="pt-BR" sz="3000">
                <a:latin typeface="Cambria"/>
                <a:ea typeface="Cambria"/>
                <a:cs typeface="Cambria"/>
                <a:sym typeface="Cambria"/>
              </a:rPr>
              <a:t>Exemplo Etapas no Cronograma (</a:t>
            </a:r>
            <a:r>
              <a:rPr b="1" i="1" lang="pt-BR" sz="2600">
                <a:latin typeface="Cambria"/>
                <a:ea typeface="Cambria"/>
                <a:cs typeface="Cambria"/>
                <a:sym typeface="Cambria"/>
              </a:rPr>
              <a:t>DRAFT</a:t>
            </a:r>
            <a:r>
              <a:rPr b="1" lang="pt-BR" sz="3000">
                <a:latin typeface="Cambria"/>
                <a:ea typeface="Cambria"/>
                <a:cs typeface="Cambria"/>
                <a:sym typeface="Cambria"/>
              </a:rPr>
              <a:t>)</a:t>
            </a:r>
            <a:endParaRPr b="1"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"/>
          <p:cNvSpPr txBox="1"/>
          <p:nvPr/>
        </p:nvSpPr>
        <p:spPr>
          <a:xfrm>
            <a:off x="1225475" y="871975"/>
            <a:ext cx="67638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latin typeface="Calibri"/>
                <a:ea typeface="Calibri"/>
                <a:cs typeface="Calibri"/>
                <a:sym typeface="Calibri"/>
              </a:rPr>
              <a:t>Atenção</a:t>
            </a:r>
            <a:endParaRPr b="1" sz="5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O projeto deve ser construído com apoio do seu orientador. 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A submissão deve ser feita por ele.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/>
          <p:nvPr>
            <p:ph idx="2" type="body"/>
          </p:nvPr>
        </p:nvSpPr>
        <p:spPr>
          <a:xfrm>
            <a:off x="892850" y="286174"/>
            <a:ext cx="7896900" cy="116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pt-BR"/>
              <a:t>Submissão do Projeto</a:t>
            </a:r>
            <a:endParaRPr/>
          </a:p>
        </p:txBody>
      </p:sp>
      <p:pic>
        <p:nvPicPr>
          <p:cNvPr id="383" name="Google Shape;3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101" y="1592100"/>
            <a:ext cx="7855500" cy="47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3"/>
          <p:cNvSpPr/>
          <p:nvPr/>
        </p:nvSpPr>
        <p:spPr>
          <a:xfrm rot="9884693">
            <a:off x="5231783" y="5608958"/>
            <a:ext cx="660162" cy="188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4"/>
          <p:cNvSpPr txBox="1"/>
          <p:nvPr/>
        </p:nvSpPr>
        <p:spPr>
          <a:xfrm>
            <a:off x="1225475" y="871975"/>
            <a:ext cx="67638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latin typeface="Calibri"/>
                <a:ea typeface="Calibri"/>
                <a:cs typeface="Calibri"/>
                <a:sym typeface="Calibri"/>
              </a:rPr>
              <a:t>Projeto aprovado, e agora?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449" y="2978268"/>
            <a:ext cx="3319850" cy="33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/>
          <p:nvPr/>
        </p:nvSpPr>
        <p:spPr>
          <a:xfrm>
            <a:off x="5531416" y="1704375"/>
            <a:ext cx="3447300" cy="42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INTRODUÇÃO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  1.1. OBJETIVOS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  1.2. JUSTIFICATIVA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REFERENCIAL TEÓRICO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METODOLOGIA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CRONOGRAMA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REFERÊNCIAS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APÊNDICE</a:t>
            </a:r>
            <a:br>
              <a:rPr b="1"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ANEXO</a:t>
            </a: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397" name="Google Shape;39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75" y="2042528"/>
            <a:ext cx="3713205" cy="360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5"/>
          <p:cNvSpPr/>
          <p:nvPr/>
        </p:nvSpPr>
        <p:spPr>
          <a:xfrm rot="10800000">
            <a:off x="4715571" y="3680687"/>
            <a:ext cx="725700" cy="32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0808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5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Estrutura do seu Projeto de pesquisa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6"/>
          <p:cNvSpPr txBox="1"/>
          <p:nvPr/>
        </p:nvSpPr>
        <p:spPr>
          <a:xfrm>
            <a:off x="1492625" y="155875"/>
            <a:ext cx="7314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Estrutura do seu Relatório de pesquisa</a:t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6"/>
          <p:cNvSpPr txBox="1"/>
          <p:nvPr/>
        </p:nvSpPr>
        <p:spPr>
          <a:xfrm>
            <a:off x="5330800" y="1704375"/>
            <a:ext cx="3813000" cy="4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INTRODUÇÃO</a:t>
            </a:r>
            <a:b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1.1. OBJETIVOS</a:t>
            </a:r>
            <a:b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1.2. JUSTIFICATIVA</a:t>
            </a:r>
            <a:b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REFERENCIAL TEÓRICO</a:t>
            </a:r>
            <a:br>
              <a:rPr lang="pt-BR" sz="24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3.1. ...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3.X. Resultados e Discussão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4. Considerações Finais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latin typeface="Calibri"/>
                <a:ea typeface="Calibri"/>
                <a:cs typeface="Calibri"/>
                <a:sym typeface="Calibri"/>
              </a:rPr>
              <a:t>4.1.Trabalho Futuro</a:t>
            </a:r>
            <a:br>
              <a:rPr lang="pt-BR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br>
              <a:rPr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APÊNDICE</a:t>
            </a:r>
            <a:br>
              <a:rPr b="1"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ANEXO</a:t>
            </a:r>
            <a:br>
              <a:rPr lang="pt-BR" sz="2400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BR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407" name="Google Shape;4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50" y="2046306"/>
            <a:ext cx="3691993" cy="364508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6"/>
          <p:cNvSpPr/>
          <p:nvPr/>
        </p:nvSpPr>
        <p:spPr>
          <a:xfrm rot="10800000">
            <a:off x="4456886" y="3702502"/>
            <a:ext cx="721800" cy="332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80808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/>
          <p:nvPr/>
        </p:nvSpPr>
        <p:spPr>
          <a:xfrm>
            <a:off x="919100" y="358650"/>
            <a:ext cx="7777200" cy="5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Seguir a 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Metodologia</a:t>
            </a:r>
            <a:r>
              <a:rPr lang="pt-BR" sz="2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 o 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Cronograma</a:t>
            </a:r>
            <a:r>
              <a:rPr lang="pt-BR" sz="26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especificados no projeto, realizando a pesquisa científica proposta.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Escrever, na seção do 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Desenvolvimento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,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os resultados obtidos pelo passo-a-passo definido no cronograma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2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Escrever as 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Considerações Finais</a:t>
            </a:r>
            <a:r>
              <a:rPr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 o </a:t>
            </a:r>
            <a:r>
              <a:rPr b="1" lang="pt-BR" sz="2600">
                <a:solidFill>
                  <a:srgbClr val="3D85C6"/>
                </a:solidFill>
                <a:latin typeface="Cambria"/>
                <a:ea typeface="Cambria"/>
                <a:cs typeface="Cambria"/>
                <a:sym typeface="Cambria"/>
              </a:rPr>
              <a:t>Trabalho Futuro</a:t>
            </a:r>
            <a:r>
              <a:rPr lang="pt-BR" sz="26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OBS</a:t>
            </a:r>
            <a:r>
              <a:rPr i="1" lang="pt-BR" sz="2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: a escrita nas seções do relatório devem ser revistas, deve alterar os verbos do futuro para presente ou passado e, se necessário, inserir nova informação e retirar o que não está mais sendo utilizado.</a:t>
            </a:r>
            <a:endParaRPr sz="2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idx="11" type="ftr"/>
          </p:nvPr>
        </p:nvSpPr>
        <p:spPr>
          <a:xfrm>
            <a:off x="992778" y="6133199"/>
            <a:ext cx="7895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Clique para editar o título da disciplina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420" name="Google Shape;420;p58"/>
          <p:cNvSpPr/>
          <p:nvPr/>
        </p:nvSpPr>
        <p:spPr>
          <a:xfrm>
            <a:off x="2396425" y="1425650"/>
            <a:ext cx="4552849" cy="7325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3D85C6"/>
                </a:solidFill>
                <a:latin typeface="Arial"/>
              </a:rPr>
              <a:t>Bom trabalho!!!</a:t>
            </a:r>
          </a:p>
        </p:txBody>
      </p:sp>
      <p:pic>
        <p:nvPicPr>
          <p:cNvPr id="421" name="Google Shape;42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675" y="2582574"/>
            <a:ext cx="2772400" cy="27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